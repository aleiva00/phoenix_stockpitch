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13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5" r:id="rId10"/>
    <p:sldId id="266" r:id="rId11"/>
    <p:sldId id="267" r:id="rId12"/>
    <p:sldId id="270" r:id="rId13"/>
    <p:sldId id="272" r:id="rId14"/>
    <p:sldId id="274" r:id="rId15"/>
    <p:sldId id="273" r:id="rId16"/>
    <p:sldId id="268" r:id="rId17"/>
    <p:sldId id="271" r:id="rId18"/>
    <p:sldId id="269" r:id="rId1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90" d="100"/>
          <a:sy n="90" d="100"/>
        </p:scale>
        <p:origin x="370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03504" y="770467"/>
            <a:ext cx="10782300" cy="3352800"/>
          </a:xfrm>
        </p:spPr>
        <p:txBody>
          <a:bodyPr anchor="b">
            <a:noAutofit/>
          </a:bodyPr>
          <a:lstStyle>
            <a:lvl1pPr algn="l">
              <a:lnSpc>
                <a:spcPct val="80000"/>
              </a:lnSpc>
              <a:defRPr sz="8800" spc="-120" baseline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67512" y="4206876"/>
            <a:ext cx="9228201" cy="1645920"/>
          </a:xfrm>
        </p:spPr>
        <p:txBody>
          <a:bodyPr>
            <a:normAutofit/>
          </a:bodyPr>
          <a:lstStyle>
            <a:lvl1pPr marL="0" indent="0" algn="l">
              <a:buNone/>
              <a:defRPr sz="3200">
                <a:solidFill>
                  <a:srgbClr val="262626"/>
                </a:solidFill>
                <a:latin typeface="+mj-lt"/>
              </a:defRPr>
            </a:lvl1pPr>
            <a:lvl2pPr marL="457200" indent="0" algn="ctr">
              <a:buNone/>
              <a:defRPr sz="28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>
                    <a:alpha val="80000"/>
                  </a:srgbClr>
                </a:solidFill>
              </a:defRPr>
            </a:lvl1pPr>
          </a:lstStyle>
          <a:p>
            <a:fld id="{621DE611-1139-46AD-9E7C-5A6D20A55351}" type="datetimeFigureOut">
              <a:rPr lang="en-US" smtClean="0"/>
              <a:t>2/12/2026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>
                    <a:alpha val="80000"/>
                  </a:srgbClr>
                </a:solidFill>
              </a:defRPr>
            </a:lvl1pPr>
          </a:lstStyle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>
                    <a:alpha val="25000"/>
                  </a:srgbClr>
                </a:solidFill>
              </a:defRPr>
            </a:lvl1pPr>
          </a:lstStyle>
          <a:p>
            <a:fld id="{51E11391-0E3C-48EA-926E-BE10434A45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625946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1DE611-1139-46AD-9E7C-5A6D20A55351}" type="datetimeFigureOut">
              <a:rPr lang="en-US" smtClean="0"/>
              <a:t>2/12/2026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E11391-0E3C-48EA-926E-BE10434A45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95552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3504" y="767419"/>
            <a:ext cx="10780776" cy="3355848"/>
          </a:xfrm>
        </p:spPr>
        <p:txBody>
          <a:bodyPr anchor="b">
            <a:normAutofit/>
          </a:bodyPr>
          <a:lstStyle>
            <a:lvl1pPr>
              <a:lnSpc>
                <a:spcPct val="80000"/>
              </a:lnSpc>
              <a:defRPr sz="8800" b="0" baseline="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67512" y="4204209"/>
            <a:ext cx="9226296" cy="1645920"/>
          </a:xfrm>
        </p:spPr>
        <p:txBody>
          <a:bodyPr anchor="t">
            <a:normAutofit/>
          </a:bodyPr>
          <a:lstStyle>
            <a:lvl1pPr marL="0" indent="0">
              <a:buNone/>
              <a:defRPr sz="320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1DE611-1139-46AD-9E7C-5A6D20A55351}" type="datetimeFigureOut">
              <a:rPr lang="en-US" smtClean="0"/>
              <a:t>2/12/2026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E11391-0E3C-48EA-926E-BE10434A45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488460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6656" y="1998134"/>
            <a:ext cx="4663440" cy="376732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11330" y="1998134"/>
            <a:ext cx="4663440" cy="376732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1DE611-1139-46AD-9E7C-5A6D20A55351}" type="datetimeFigureOut">
              <a:rPr lang="en-US" smtClean="0"/>
              <a:t>2/12/2026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E11391-0E3C-48EA-926E-BE10434A45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000099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6656" y="2040467"/>
            <a:ext cx="4663440" cy="723400"/>
          </a:xfrm>
        </p:spPr>
        <p:txBody>
          <a:bodyPr anchor="ctr">
            <a:normAutofit/>
          </a:bodyPr>
          <a:lstStyle>
            <a:lvl1pPr marL="0" indent="0">
              <a:buNone/>
              <a:defRPr sz="2200" b="0" cap="all" baseline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6656" y="2753084"/>
            <a:ext cx="4663440" cy="320040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007608" y="2038435"/>
            <a:ext cx="4663440" cy="722376"/>
          </a:xfrm>
        </p:spPr>
        <p:txBody>
          <a:bodyPr anchor="ctr">
            <a:normAutofit/>
          </a:bodyPr>
          <a:lstStyle>
            <a:lvl1pPr marL="0" indent="0">
              <a:buNone/>
              <a:defRPr sz="2200" b="0" cap="all" baseline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007608" y="2750990"/>
            <a:ext cx="4663440" cy="320040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1DE611-1139-46AD-9E7C-5A6D20A55351}" type="datetimeFigureOut">
              <a:rPr lang="en-US" smtClean="0"/>
              <a:t>2/12/2026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E11391-0E3C-48EA-926E-BE10434A45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641495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1DE611-1139-46AD-9E7C-5A6D20A55351}" type="datetimeFigureOut">
              <a:rPr lang="en-US" smtClean="0"/>
              <a:t>2/12/2026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E11391-0E3C-48EA-926E-BE10434A45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402071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1DE611-1139-46AD-9E7C-5A6D20A55351}" type="datetimeFigureOut">
              <a:rPr lang="en-US" smtClean="0"/>
              <a:t>2/12/2026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E11391-0E3C-48EA-926E-BE10434A45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592120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7620000" y="0"/>
            <a:ext cx="457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Title 8"/>
          <p:cNvSpPr>
            <a:spLocks noGrp="1"/>
          </p:cNvSpPr>
          <p:nvPr>
            <p:ph type="title"/>
          </p:nvPr>
        </p:nvSpPr>
        <p:spPr>
          <a:xfrm>
            <a:off x="8261404" y="542282"/>
            <a:ext cx="3383280" cy="1920240"/>
          </a:xfrm>
        </p:spPr>
        <p:txBody>
          <a:bodyPr anchor="b">
            <a:noAutofit/>
          </a:bodyPr>
          <a:lstStyle>
            <a:lvl1pPr>
              <a:lnSpc>
                <a:spcPct val="85000"/>
              </a:lnSpc>
              <a:defRPr sz="400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2000" y="762000"/>
            <a:ext cx="6096000" cy="457200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275982" y="2511813"/>
            <a:ext cx="3398520" cy="3126987"/>
          </a:xfrm>
        </p:spPr>
        <p:txBody>
          <a:bodyPr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>
                <a:solidFill>
                  <a:srgbClr val="262626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1DE611-1139-46AD-9E7C-5A6D20A55351}" type="datetimeFigureOut">
              <a:rPr lang="en-US" smtClean="0"/>
              <a:t>2/12/2026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>
                    <a:alpha val="20000"/>
                  </a:srgbClr>
                </a:solidFill>
              </a:defRPr>
            </a:lvl1pPr>
          </a:lstStyle>
          <a:p>
            <a:fld id="{51E11391-0E3C-48EA-926E-BE10434A45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692776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9224" y="5418667"/>
            <a:ext cx="10780776" cy="613283"/>
          </a:xfrm>
        </p:spPr>
        <p:txBody>
          <a:bodyPr anchor="b">
            <a:normAutofit/>
          </a:bodyPr>
          <a:lstStyle>
            <a:lvl1pPr>
              <a:defRPr sz="32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0"/>
            <a:ext cx="12192000" cy="5330952"/>
          </a:xfrm>
          <a:solidFill>
            <a:schemeClr val="accent1">
              <a:lumMod val="20000"/>
              <a:lumOff val="80000"/>
            </a:schemeClr>
          </a:solidFill>
        </p:spPr>
        <p:txBody>
          <a:bodyPr anchor="t"/>
          <a:lstStyle>
            <a:lvl1pPr marL="0" indent="0" algn="ctr">
              <a:spcBef>
                <a:spcPts val="800"/>
              </a:spcBef>
              <a:buNone/>
              <a:defRPr sz="3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6656" y="5909735"/>
            <a:ext cx="9229344" cy="533400"/>
          </a:xfrm>
        </p:spPr>
        <p:txBody>
          <a:bodyPr>
            <a:normAutofit/>
          </a:bodyPr>
          <a:lstStyle>
            <a:lvl1pPr marL="0" indent="0">
              <a:lnSpc>
                <a:spcPct val="90000"/>
              </a:lnSpc>
              <a:buNone/>
              <a:defRPr sz="1400">
                <a:solidFill>
                  <a:srgbClr val="262626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Date Placeholder 1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>
                    <a:alpha val="80000"/>
                  </a:srgbClr>
                </a:solidFill>
              </a:defRPr>
            </a:lvl1pPr>
          </a:lstStyle>
          <a:p>
            <a:fld id="{621DE611-1139-46AD-9E7C-5A6D20A55351}" type="datetimeFigureOut">
              <a:rPr lang="en-US" smtClean="0"/>
              <a:t>2/12/2026</a:t>
            </a:fld>
            <a:endParaRPr lang="en-US"/>
          </a:p>
        </p:txBody>
      </p:sp>
      <p:sp>
        <p:nvSpPr>
          <p:cNvPr id="13" name="Footer Placeholder 1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>
                    <a:alpha val="80000"/>
                  </a:srgbClr>
                </a:solidFill>
              </a:defRPr>
            </a:lvl1pPr>
          </a:lstStyle>
          <a:p>
            <a:endParaRPr lang="en-US"/>
          </a:p>
        </p:txBody>
      </p:sp>
      <p:sp>
        <p:nvSpPr>
          <p:cNvPr id="14" name="Slide Number Placeholder 1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>
                    <a:alpha val="25000"/>
                  </a:srgbClr>
                </a:solidFill>
              </a:defRPr>
            </a:lvl1pPr>
          </a:lstStyle>
          <a:p>
            <a:fld id="{51E11391-0E3C-48EA-926E-BE10434A45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633718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1DE611-1139-46AD-9E7C-5A6D20A55351}" type="datetimeFigureOut">
              <a:rPr lang="en-US" smtClean="0"/>
              <a:t>2/12/2026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E11391-0E3C-48EA-926E-BE10434A45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767511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43950" y="695325"/>
            <a:ext cx="2628900" cy="48006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71525" y="714375"/>
            <a:ext cx="7734300" cy="540067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1DE611-1139-46AD-9E7C-5A6D20A55351}" type="datetimeFigureOut">
              <a:rPr lang="en-US" smtClean="0"/>
              <a:t>2/12/2026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E11391-0E3C-48EA-926E-BE10434A45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479371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57224" y="499533"/>
            <a:ext cx="10772775" cy="165819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6656" y="2011680"/>
            <a:ext cx="10753725" cy="376618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85800" y="6412447"/>
            <a:ext cx="4114800" cy="2286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50">
                <a:solidFill>
                  <a:schemeClr val="tx1">
                    <a:alpha val="80000"/>
                  </a:schemeClr>
                </a:solidFill>
              </a:defRPr>
            </a:lvl1pPr>
          </a:lstStyle>
          <a:p>
            <a:fld id="{621DE611-1139-46AD-9E7C-5A6D20A55351}" type="datetimeFigureOut">
              <a:rPr lang="en-US" smtClean="0"/>
              <a:t>2/12/2026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5800" y="6554697"/>
            <a:ext cx="5029200" cy="2286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50" cap="all" baseline="0">
                <a:solidFill>
                  <a:schemeClr val="tx1">
                    <a:alpha val="8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63926" y="5876412"/>
            <a:ext cx="2926080" cy="1397039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300" b="0">
                <a:ln>
                  <a:noFill/>
                </a:ln>
                <a:solidFill>
                  <a:schemeClr val="accent1">
                    <a:alpha val="25000"/>
                  </a:schemeClr>
                </a:solidFill>
                <a:latin typeface="+mj-lt"/>
              </a:defRPr>
            </a:lvl1pPr>
          </a:lstStyle>
          <a:p>
            <a:fld id="{51E11391-0E3C-48EA-926E-BE10434A45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54093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4" r:id="rId1"/>
    <p:sldLayoutId id="2147483715" r:id="rId2"/>
    <p:sldLayoutId id="2147483716" r:id="rId3"/>
    <p:sldLayoutId id="2147483717" r:id="rId4"/>
    <p:sldLayoutId id="2147483718" r:id="rId5"/>
    <p:sldLayoutId id="2147483719" r:id="rId6"/>
    <p:sldLayoutId id="2147483720" r:id="rId7"/>
    <p:sldLayoutId id="2147483721" r:id="rId8"/>
    <p:sldLayoutId id="2147483722" r:id="rId9"/>
    <p:sldLayoutId id="2147483723" r:id="rId10"/>
    <p:sldLayoutId id="2147483724" r:id="rId11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5400" kern="1200" spc="-120" baseline="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85000"/>
        </a:lnSpc>
        <a:spcBef>
          <a:spcPts val="1300"/>
        </a:spcBef>
        <a:buFont typeface="Arial" pitchFamily="34" charset="0"/>
        <a:buChar char=" "/>
        <a:defRPr sz="2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1pPr>
      <a:lvl2pPr marL="347472" indent="-342900" algn="l" defTabSz="914400" rtl="0" eaLnBrk="1" latinLnBrk="0" hangingPunct="1">
        <a:lnSpc>
          <a:spcPct val="85000"/>
        </a:lnSpc>
        <a:spcBef>
          <a:spcPts val="600"/>
        </a:spcBef>
        <a:buFont typeface="Arial" pitchFamily="34" charset="0"/>
        <a:buChar char=" "/>
        <a:defRPr sz="2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548640" indent="-548640" algn="l" defTabSz="914400" rtl="0" eaLnBrk="1" latinLnBrk="0" hangingPunct="1">
        <a:lnSpc>
          <a:spcPct val="85000"/>
        </a:lnSpc>
        <a:spcBef>
          <a:spcPts val="600"/>
        </a:spcBef>
        <a:buFont typeface="Arial" pitchFamily="34" charset="0"/>
        <a:buChar char=" "/>
        <a:defRPr sz="2000" i="1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822960" indent="-822960" algn="l" defTabSz="914400" rtl="0" eaLnBrk="1" latinLnBrk="0" hangingPunct="1">
        <a:lnSpc>
          <a:spcPct val="85000"/>
        </a:lnSpc>
        <a:spcBef>
          <a:spcPts val="600"/>
        </a:spcBef>
        <a:buFont typeface="Arial" pitchFamily="34" charset="0"/>
        <a:buChar char=" 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097280" indent="-1097280" algn="l" defTabSz="914400" rtl="0" eaLnBrk="1" latinLnBrk="0" hangingPunct="1">
        <a:lnSpc>
          <a:spcPct val="85000"/>
        </a:lnSpc>
        <a:spcBef>
          <a:spcPts val="600"/>
        </a:spcBef>
        <a:buFont typeface="Arial" pitchFamily="34" charset="0"/>
        <a:buChar char=" 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1200000" indent="-228600" algn="l" defTabSz="914400" rtl="0" eaLnBrk="1" latinLnBrk="0" hangingPunct="1">
        <a:lnSpc>
          <a:spcPct val="85000"/>
        </a:lnSpc>
        <a:spcBef>
          <a:spcPts val="600"/>
        </a:spcBef>
        <a:buFont typeface="Arial" pitchFamily="34" charset="0"/>
        <a:buChar char=" 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6pPr>
      <a:lvl7pPr marL="1400000" indent="-228600" algn="l" defTabSz="914400" rtl="0" eaLnBrk="1" latinLnBrk="0" hangingPunct="1">
        <a:lnSpc>
          <a:spcPct val="85000"/>
        </a:lnSpc>
        <a:spcBef>
          <a:spcPts val="600"/>
        </a:spcBef>
        <a:buFont typeface="Arial" pitchFamily="34" charset="0"/>
        <a:buChar char=" 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7pPr>
      <a:lvl8pPr marL="1600000" indent="-228600" algn="l" defTabSz="914400" rtl="0" eaLnBrk="1" latinLnBrk="0" hangingPunct="1">
        <a:lnSpc>
          <a:spcPct val="85000"/>
        </a:lnSpc>
        <a:spcBef>
          <a:spcPts val="600"/>
        </a:spcBef>
        <a:buFont typeface="Arial" pitchFamily="34" charset="0"/>
        <a:buChar char=" 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8pPr>
      <a:lvl9pPr marL="1800000" indent="-228600" algn="l" defTabSz="914400" rtl="0" eaLnBrk="1" latinLnBrk="0" hangingPunct="1">
        <a:lnSpc>
          <a:spcPct val="85000"/>
        </a:lnSpc>
        <a:spcBef>
          <a:spcPts val="600"/>
        </a:spcBef>
        <a:buFont typeface="Arial" pitchFamily="34" charset="0"/>
        <a:buChar char=" 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5AB5FD-9E30-DAD5-3D02-048E41ADBB5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s-CR" dirty="0"/>
              <a:t>Stock Pitch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D587196-FBE2-C9FE-C8BB-38FAAAA538A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s-CR" dirty="0"/>
              <a:t>Phoenix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7680126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CF2D21-A785-474C-8EA6-D22B13887A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9612" y="0"/>
            <a:ext cx="10772775" cy="1658198"/>
          </a:xfrm>
        </p:spPr>
        <p:txBody>
          <a:bodyPr>
            <a:normAutofit/>
          </a:bodyPr>
          <a:lstStyle/>
          <a:p>
            <a:r>
              <a:rPr lang="en-US" sz="3600" dirty="0"/>
              <a:t>Phoenix Portfolio Risk Is </a:t>
            </a:r>
            <a:r>
              <a:rPr lang="en-US" sz="3600" b="1" dirty="0"/>
              <a:t>Highly Concentrated in High-Beta Tech </a:t>
            </a:r>
            <a:r>
              <a:rPr lang="en-US" sz="3600" dirty="0"/>
              <a:t>Exposure</a:t>
            </a:r>
          </a:p>
        </p:txBody>
      </p:sp>
      <p:pic>
        <p:nvPicPr>
          <p:cNvPr id="13" name="Graphic 12">
            <a:extLst>
              <a:ext uri="{FF2B5EF4-FFF2-40B4-BE49-F238E27FC236}">
                <a16:creationId xmlns:a16="http://schemas.microsoft.com/office/drawing/2014/main" id="{24ED0553-8A94-08E6-22C3-698716E1CDC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407981" y="1312453"/>
            <a:ext cx="9376038" cy="5005083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938C4ED0-B457-E718-0FE6-7243F0FBA4F5}"/>
              </a:ext>
            </a:extLst>
          </p:cNvPr>
          <p:cNvSpPr txBox="1"/>
          <p:nvPr/>
        </p:nvSpPr>
        <p:spPr>
          <a:xfrm>
            <a:off x="709612" y="6425356"/>
            <a:ext cx="10669587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R" sz="1050" b="1" dirty="0" err="1"/>
              <a:t>Source</a:t>
            </a:r>
            <a:r>
              <a:rPr lang="es-CR" sz="1050" dirty="0"/>
              <a:t>: </a:t>
            </a:r>
            <a:r>
              <a:rPr lang="en-US" sz="1050" dirty="0"/>
              <a:t>Prepared by the author using data from Yahoo Finance over the last 3 years.</a:t>
            </a:r>
          </a:p>
        </p:txBody>
      </p:sp>
    </p:spTree>
    <p:extLst>
      <p:ext uri="{BB962C8B-B14F-4D97-AF65-F5344CB8AC3E}">
        <p14:creationId xmlns:p14="http://schemas.microsoft.com/office/powerpoint/2010/main" val="329527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F25891-44E6-B401-2286-40BF268442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lowchart: Off-page Connector 8">
            <a:extLst>
              <a:ext uri="{FF2B5EF4-FFF2-40B4-BE49-F238E27FC236}">
                <a16:creationId xmlns:a16="http://schemas.microsoft.com/office/drawing/2014/main" id="{A4FB4181-E676-C08B-D060-A5031D696BCB}"/>
              </a:ext>
            </a:extLst>
          </p:cNvPr>
          <p:cNvSpPr/>
          <p:nvPr/>
        </p:nvSpPr>
        <p:spPr>
          <a:xfrm rot="16200000">
            <a:off x="1783028" y="1050722"/>
            <a:ext cx="448733" cy="2846389"/>
          </a:xfrm>
          <a:prstGeom prst="flowChartOffpageConnector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059DFC0-4A49-8979-BACA-521F18DBA2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9612" y="0"/>
            <a:ext cx="10772775" cy="1658198"/>
          </a:xfrm>
        </p:spPr>
        <p:txBody>
          <a:bodyPr>
            <a:normAutofit/>
          </a:bodyPr>
          <a:lstStyle/>
          <a:p>
            <a:r>
              <a:rPr lang="en-US" sz="3600" dirty="0"/>
              <a:t>Addressing Tech Concentration Through Thematic Diversification</a:t>
            </a:r>
          </a:p>
        </p:txBody>
      </p:sp>
      <p:sp>
        <p:nvSpPr>
          <p:cNvPr id="10" name="Flowchart: Off-page Connector 9">
            <a:extLst>
              <a:ext uri="{FF2B5EF4-FFF2-40B4-BE49-F238E27FC236}">
                <a16:creationId xmlns:a16="http://schemas.microsoft.com/office/drawing/2014/main" id="{8B344D56-0E96-0A93-C691-B94E2405E69A}"/>
              </a:ext>
            </a:extLst>
          </p:cNvPr>
          <p:cNvSpPr/>
          <p:nvPr/>
        </p:nvSpPr>
        <p:spPr>
          <a:xfrm rot="16200000">
            <a:off x="5715795" y="369946"/>
            <a:ext cx="448733" cy="4207935"/>
          </a:xfrm>
          <a:prstGeom prst="flowChartOffpageConnector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0D048A3-ED8D-843A-1843-071D50852F06}"/>
              </a:ext>
            </a:extLst>
          </p:cNvPr>
          <p:cNvSpPr txBox="1"/>
          <p:nvPr/>
        </p:nvSpPr>
        <p:spPr>
          <a:xfrm>
            <a:off x="650345" y="2282167"/>
            <a:ext cx="2846388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R" b="1" dirty="0" err="1"/>
              <a:t>Problem</a:t>
            </a:r>
            <a:r>
              <a:rPr lang="es-CR" b="1" dirty="0"/>
              <a:t> </a:t>
            </a:r>
            <a:r>
              <a:rPr lang="es-CR" b="1" dirty="0" err="1"/>
              <a:t>Identified</a:t>
            </a:r>
            <a:br>
              <a:rPr lang="es-CR" b="1" dirty="0"/>
            </a:br>
            <a:endParaRPr lang="es-CR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5 holdings with beta &gt; 1.4</a:t>
            </a:r>
            <a:endParaRPr lang="es-CR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CR" sz="1600" dirty="0" err="1"/>
              <a:t>Concentrated</a:t>
            </a:r>
            <a:r>
              <a:rPr lang="es-CR" sz="1600" dirty="0"/>
              <a:t> </a:t>
            </a:r>
            <a:r>
              <a:rPr lang="es-CR" sz="1600" dirty="0" err="1"/>
              <a:t>tech</a:t>
            </a:r>
            <a:r>
              <a:rPr lang="es-CR" sz="1600" dirty="0"/>
              <a:t> </a:t>
            </a:r>
            <a:r>
              <a:rPr lang="es-CR" sz="1600" dirty="0" err="1"/>
              <a:t>volatility</a:t>
            </a:r>
            <a:endParaRPr lang="es-CR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CR" sz="1600" dirty="0" err="1"/>
              <a:t>Limited</a:t>
            </a:r>
            <a:r>
              <a:rPr lang="es-CR" sz="1600" dirty="0"/>
              <a:t> </a:t>
            </a:r>
            <a:r>
              <a:rPr lang="es-CR" sz="1600" dirty="0" err="1"/>
              <a:t>low</a:t>
            </a:r>
            <a:r>
              <a:rPr lang="es-CR" sz="1600" dirty="0"/>
              <a:t> beta </a:t>
            </a:r>
            <a:r>
              <a:rPr lang="es-CR" sz="1600" dirty="0" err="1"/>
              <a:t>exposure</a:t>
            </a:r>
            <a:endParaRPr lang="es-CR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600" dirty="0"/>
          </a:p>
        </p:txBody>
      </p:sp>
      <p:sp>
        <p:nvSpPr>
          <p:cNvPr id="11" name="Flowchart: Off-page Connector 10">
            <a:extLst>
              <a:ext uri="{FF2B5EF4-FFF2-40B4-BE49-F238E27FC236}">
                <a16:creationId xmlns:a16="http://schemas.microsoft.com/office/drawing/2014/main" id="{39B4B6E3-1575-2702-CBB5-48B5B9896FB6}"/>
              </a:ext>
            </a:extLst>
          </p:cNvPr>
          <p:cNvSpPr/>
          <p:nvPr/>
        </p:nvSpPr>
        <p:spPr>
          <a:xfrm rot="16200000">
            <a:off x="9648562" y="1050720"/>
            <a:ext cx="448733" cy="2846389"/>
          </a:xfrm>
          <a:prstGeom prst="flowChartOffpageConnector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BE365F6-9EE4-D23D-9903-0824637F850B}"/>
              </a:ext>
            </a:extLst>
          </p:cNvPr>
          <p:cNvSpPr txBox="1"/>
          <p:nvPr/>
        </p:nvSpPr>
        <p:spPr>
          <a:xfrm>
            <a:off x="3902339" y="2282167"/>
            <a:ext cx="4141790" cy="20928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Macro Themes from 2026 Outlooks</a:t>
            </a:r>
            <a:endParaRPr lang="es-CR" b="1" dirty="0"/>
          </a:p>
          <a:p>
            <a:endParaRPr lang="es-CR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CR" sz="1600" dirty="0"/>
              <a:t>AI </a:t>
            </a:r>
            <a:r>
              <a:rPr lang="es-CR" sz="1600" dirty="0" err="1"/>
              <a:t>investment</a:t>
            </a:r>
            <a:r>
              <a:rPr lang="es-CR" sz="1600" dirty="0"/>
              <a:t> </a:t>
            </a:r>
            <a:r>
              <a:rPr lang="es-CR" sz="1600" dirty="0" err="1"/>
              <a:t>remains</a:t>
            </a:r>
            <a:r>
              <a:rPr lang="es-CR" sz="1600" dirty="0"/>
              <a:t> </a:t>
            </a:r>
            <a:r>
              <a:rPr lang="es-CR" sz="1600" dirty="0" err="1"/>
              <a:t>strong</a:t>
            </a:r>
            <a:r>
              <a:rPr lang="es-CR" sz="1600" dirty="0"/>
              <a:t> (1)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CR" sz="1600" b="1" dirty="0" err="1"/>
              <a:t>Infrastructure</a:t>
            </a:r>
            <a:r>
              <a:rPr lang="es-CR" sz="1600" b="1" dirty="0"/>
              <a:t> &amp; </a:t>
            </a:r>
            <a:r>
              <a:rPr lang="es-CR" sz="1600" b="1" dirty="0" err="1"/>
              <a:t>energy</a:t>
            </a:r>
            <a:r>
              <a:rPr lang="es-CR" sz="1600" b="1" dirty="0"/>
              <a:t> </a:t>
            </a:r>
            <a:r>
              <a:rPr lang="es-CR" sz="1600" b="1" dirty="0" err="1"/>
              <a:t>demand</a:t>
            </a:r>
            <a:r>
              <a:rPr lang="es-CR" sz="1600" b="1" dirty="0"/>
              <a:t> </a:t>
            </a:r>
            <a:r>
              <a:rPr lang="es-CR" sz="1600" b="1" dirty="0" err="1"/>
              <a:t>rising</a:t>
            </a:r>
            <a:r>
              <a:rPr lang="es-CR" sz="1600" b="1" dirty="0"/>
              <a:t> </a:t>
            </a:r>
            <a:r>
              <a:rPr lang="es-CR" sz="1600" dirty="0"/>
              <a:t>(1)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CR" sz="1600" dirty="0" err="1"/>
              <a:t>Power</a:t>
            </a:r>
            <a:r>
              <a:rPr lang="es-CR" sz="1600" dirty="0"/>
              <a:t> </a:t>
            </a:r>
            <a:r>
              <a:rPr lang="es-CR" sz="1600" dirty="0" err="1"/>
              <a:t>availability</a:t>
            </a:r>
            <a:r>
              <a:rPr lang="es-CR" sz="1600" dirty="0"/>
              <a:t> </a:t>
            </a:r>
            <a:r>
              <a:rPr lang="es-CR" sz="1600" dirty="0" err="1"/>
              <a:t>is</a:t>
            </a:r>
            <a:r>
              <a:rPr lang="es-CR" sz="1600" dirty="0"/>
              <a:t> AI </a:t>
            </a:r>
            <a:r>
              <a:rPr lang="es-CR" sz="1600" dirty="0" err="1"/>
              <a:t>bottleneck</a:t>
            </a:r>
            <a:r>
              <a:rPr lang="es-CR" sz="1600" dirty="0"/>
              <a:t> (2)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CR" sz="1600" dirty="0"/>
              <a:t>U.S. </a:t>
            </a:r>
            <a:r>
              <a:rPr lang="es-CR" sz="1600" b="1" dirty="0"/>
              <a:t>natural gas</a:t>
            </a:r>
            <a:r>
              <a:rPr lang="es-CR" sz="1600" dirty="0"/>
              <a:t> </a:t>
            </a:r>
            <a:r>
              <a:rPr lang="es-CR" sz="1600" dirty="0" err="1"/>
              <a:t>pivotal</a:t>
            </a:r>
            <a:r>
              <a:rPr lang="es-CR" sz="1600" dirty="0"/>
              <a:t> </a:t>
            </a:r>
            <a:r>
              <a:rPr lang="es-CR" sz="1600" dirty="0" err="1"/>
              <a:t>globally</a:t>
            </a:r>
            <a:r>
              <a:rPr lang="es-CR" sz="1600" dirty="0"/>
              <a:t> (2)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CR" sz="1600" b="1" dirty="0" err="1"/>
              <a:t>Infrastructure</a:t>
            </a:r>
            <a:r>
              <a:rPr lang="es-CR" sz="1600" dirty="0"/>
              <a:t> </a:t>
            </a:r>
            <a:r>
              <a:rPr lang="es-CR" sz="1600" dirty="0" err="1"/>
              <a:t>build</a:t>
            </a:r>
            <a:r>
              <a:rPr lang="es-CR" sz="1600" dirty="0"/>
              <a:t> </a:t>
            </a:r>
            <a:r>
              <a:rPr lang="es-CR" sz="1600" dirty="0" err="1"/>
              <a:t>out</a:t>
            </a:r>
            <a:r>
              <a:rPr lang="es-CR" sz="1600" dirty="0"/>
              <a:t> </a:t>
            </a:r>
            <a:r>
              <a:rPr lang="es-CR" sz="1600" dirty="0" err="1"/>
              <a:t>accelerating</a:t>
            </a:r>
            <a:r>
              <a:rPr lang="es-CR" sz="1600" dirty="0"/>
              <a:t> (2)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6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50887C1-A1F1-2FC9-0ED3-938F8858D0C6}"/>
              </a:ext>
            </a:extLst>
          </p:cNvPr>
          <p:cNvSpPr txBox="1"/>
          <p:nvPr/>
        </p:nvSpPr>
        <p:spPr>
          <a:xfrm>
            <a:off x="709612" y="6289889"/>
            <a:ext cx="10669587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R" sz="1050" b="1" dirty="0" err="1"/>
              <a:t>Source</a:t>
            </a:r>
            <a:r>
              <a:rPr lang="es-CR" sz="1050" dirty="0"/>
              <a:t>: (1) </a:t>
            </a:r>
            <a:r>
              <a:rPr lang="en-US" sz="1050" dirty="0"/>
              <a:t>J.P. Morgan Asset Management. 2026 Year-Ahead Investment Outlook: AI Lift and Economic Drift. November 2025</a:t>
            </a:r>
            <a:r>
              <a:rPr lang="es-CR" sz="1050" dirty="0"/>
              <a:t>. (2): </a:t>
            </a:r>
            <a:r>
              <a:rPr lang="en-US" sz="1050" dirty="0"/>
              <a:t>BlackRock iShares. 2026 Thematic Outlook: Charting the Themes Impacting Markets. January 2026.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8C7C5A0-CF65-50B0-4961-7D3A1B649C39}"/>
              </a:ext>
            </a:extLst>
          </p:cNvPr>
          <p:cNvSpPr txBox="1"/>
          <p:nvPr/>
        </p:nvSpPr>
        <p:spPr>
          <a:xfrm>
            <a:off x="8449734" y="2282167"/>
            <a:ext cx="3158066" cy="2123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R" b="1" dirty="0" err="1">
                <a:solidFill>
                  <a:schemeClr val="bg1"/>
                </a:solidFill>
              </a:rPr>
              <a:t>Selection</a:t>
            </a:r>
            <a:r>
              <a:rPr lang="es-CR" b="1" dirty="0">
                <a:solidFill>
                  <a:schemeClr val="bg1"/>
                </a:solidFill>
              </a:rPr>
              <a:t> </a:t>
            </a:r>
            <a:r>
              <a:rPr lang="es-CR" b="1" dirty="0" err="1">
                <a:solidFill>
                  <a:schemeClr val="bg1"/>
                </a:solidFill>
              </a:rPr>
              <a:t>Filters</a:t>
            </a:r>
            <a:endParaRPr lang="es-CR" b="1" dirty="0">
              <a:solidFill>
                <a:schemeClr val="bg1"/>
              </a:solidFill>
            </a:endParaRPr>
          </a:p>
          <a:p>
            <a:endParaRPr lang="es-CR" sz="1600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Beta &lt; 1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Lower correlation to tech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/>
              <a:t>Exposure to power / energy infrastructure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Catalyst within 6 months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Reasonable valuation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80CA4B4-9C03-54C2-3004-79F9376171A4}"/>
              </a:ext>
            </a:extLst>
          </p:cNvPr>
          <p:cNvSpPr txBox="1"/>
          <p:nvPr/>
        </p:nvSpPr>
        <p:spPr>
          <a:xfrm>
            <a:off x="1119190" y="5132414"/>
            <a:ext cx="1017693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Most consistent themes across outlooks were </a:t>
            </a:r>
            <a:r>
              <a:rPr lang="en-US" b="1" dirty="0"/>
              <a:t>energy infrastructure, power generation, and natural gas</a:t>
            </a:r>
          </a:p>
        </p:txBody>
      </p:sp>
    </p:spTree>
    <p:extLst>
      <p:ext uri="{BB962C8B-B14F-4D97-AF65-F5344CB8AC3E}">
        <p14:creationId xmlns:p14="http://schemas.microsoft.com/office/powerpoint/2010/main" val="343237105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291F2C-99AD-B2DF-6151-33E9A3D79C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4DF189-4EB1-0334-E861-9D0AFE8E42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9612" y="130110"/>
            <a:ext cx="10772775" cy="768053"/>
          </a:xfrm>
        </p:spPr>
        <p:txBody>
          <a:bodyPr>
            <a:normAutofit/>
          </a:bodyPr>
          <a:lstStyle/>
          <a:p>
            <a:r>
              <a:rPr lang="en-US" sz="3600" dirty="0"/>
              <a:t>Initiate 5-8% Position in Cheniere Energy (LNG)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6B9ADE4-99E1-05A8-9845-4575CD5EA49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76626" y="1419274"/>
            <a:ext cx="9438746" cy="4670673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8D3D1003-AE59-0F5D-C804-D01B6E06FFF1}"/>
              </a:ext>
            </a:extLst>
          </p:cNvPr>
          <p:cNvSpPr txBox="1"/>
          <p:nvPr/>
        </p:nvSpPr>
        <p:spPr>
          <a:xfrm>
            <a:off x="709612" y="6289889"/>
            <a:ext cx="10669587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R" sz="1050" b="1" dirty="0" err="1"/>
              <a:t>Source</a:t>
            </a:r>
            <a:r>
              <a:rPr lang="es-CR" sz="1050" dirty="0"/>
              <a:t>: </a:t>
            </a:r>
            <a:r>
              <a:rPr lang="en-US" sz="1050" dirty="0" err="1"/>
              <a:t>Finviz</a:t>
            </a:r>
            <a:r>
              <a:rPr lang="en-US" sz="1050" dirty="0"/>
              <a:t>; Yahoo Finance; </a:t>
            </a:r>
            <a:r>
              <a:rPr lang="en-US" sz="1050" dirty="0" err="1"/>
              <a:t>TipRanks</a:t>
            </a:r>
            <a:r>
              <a:rPr lang="en-US" sz="1050" dirty="0"/>
              <a:t> analyst consensus data (Feb 2026).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0F3AE542-1DD8-FD65-5552-F1A3A353A5AB}"/>
              </a:ext>
            </a:extLst>
          </p:cNvPr>
          <p:cNvSpPr txBox="1">
            <a:spLocks/>
          </p:cNvSpPr>
          <p:nvPr/>
        </p:nvSpPr>
        <p:spPr>
          <a:xfrm>
            <a:off x="709612" y="689941"/>
            <a:ext cx="10772775" cy="48399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5400" kern="1200" spc="-120" baseline="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000" dirty="0"/>
              <a:t>Structural LNG Infrastructure Exposure to Improve Portfolio Risk-Adjusted Returns</a:t>
            </a:r>
          </a:p>
        </p:txBody>
      </p:sp>
      <p:pic>
        <p:nvPicPr>
          <p:cNvPr id="3074" name="Picture 2" descr="Investor Relations :: Cheniere Energy, Inc. (LNG)">
            <a:extLst>
              <a:ext uri="{FF2B5EF4-FFF2-40B4-BE49-F238E27FC236}">
                <a16:creationId xmlns:a16="http://schemas.microsoft.com/office/drawing/2014/main" id="{10F3B9EA-67BD-7F8B-5E85-A712376B819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92167" y="5078300"/>
            <a:ext cx="1257300" cy="3604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9680301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06D0B4-E53D-8005-EB86-04E8B26980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AF0EBC8A-DF32-2F74-0ACD-B2C7BE6DAB9F}"/>
              </a:ext>
            </a:extLst>
          </p:cNvPr>
          <p:cNvSpPr/>
          <p:nvPr/>
        </p:nvSpPr>
        <p:spPr>
          <a:xfrm>
            <a:off x="6095999" y="3520040"/>
            <a:ext cx="5054602" cy="1972733"/>
          </a:xfrm>
          <a:prstGeom prst="round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55A69608-C1A7-AF03-738C-8A34A569AB28}"/>
              </a:ext>
            </a:extLst>
          </p:cNvPr>
          <p:cNvSpPr/>
          <p:nvPr/>
        </p:nvSpPr>
        <p:spPr>
          <a:xfrm>
            <a:off x="524933" y="3520041"/>
            <a:ext cx="5054602" cy="1972733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13F550B-FAFC-EE5F-25CB-A3919444D2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9612" y="130110"/>
            <a:ext cx="10772775" cy="768053"/>
          </a:xfrm>
        </p:spPr>
        <p:txBody>
          <a:bodyPr>
            <a:normAutofit fontScale="90000"/>
          </a:bodyPr>
          <a:lstStyle/>
          <a:p>
            <a:r>
              <a:rPr lang="en-US" sz="3600" dirty="0"/>
              <a:t>Cheniere Energy Is the Leading U.S. LNG Export Infrastructure Operator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2770182-0030-BA95-0096-602D50CF4737}"/>
              </a:ext>
            </a:extLst>
          </p:cNvPr>
          <p:cNvSpPr txBox="1"/>
          <p:nvPr/>
        </p:nvSpPr>
        <p:spPr>
          <a:xfrm>
            <a:off x="709612" y="6289889"/>
            <a:ext cx="10669587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R" sz="1050" b="1" dirty="0" err="1"/>
              <a:t>Source</a:t>
            </a:r>
            <a:r>
              <a:rPr lang="es-CR" sz="1050" dirty="0"/>
              <a:t>: </a:t>
            </a:r>
            <a:r>
              <a:rPr lang="en-US" sz="1050" dirty="0"/>
              <a:t>Press Search, Cheniere Investor Relations 10Q Forms.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47AAED23-8C9D-3AFB-6479-18A0535BB3F2}"/>
              </a:ext>
            </a:extLst>
          </p:cNvPr>
          <p:cNvSpPr/>
          <p:nvPr/>
        </p:nvSpPr>
        <p:spPr>
          <a:xfrm>
            <a:off x="524933" y="1295400"/>
            <a:ext cx="5054602" cy="1972733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94B23C0E-91E7-E234-5809-7F92A1B30CD0}"/>
              </a:ext>
            </a:extLst>
          </p:cNvPr>
          <p:cNvSpPr/>
          <p:nvPr/>
        </p:nvSpPr>
        <p:spPr>
          <a:xfrm>
            <a:off x="6044405" y="1295399"/>
            <a:ext cx="5054602" cy="1972733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8F6364D3-5BA7-9995-15F2-254A86CB275C}"/>
              </a:ext>
            </a:extLst>
          </p:cNvPr>
          <p:cNvSpPr txBox="1">
            <a:spLocks/>
          </p:cNvSpPr>
          <p:nvPr/>
        </p:nvSpPr>
        <p:spPr>
          <a:xfrm>
            <a:off x="709612" y="689941"/>
            <a:ext cx="10772775" cy="483998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85000" lnSpcReduction="20000"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5400" kern="1200" spc="-120" baseline="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000" dirty="0"/>
              <a:t>It owns large industrial terminals that liquefy natural gas in the U.S. and ship it to utilities and energy companies worldwide under long-term contracts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DFE9768-32D7-88AA-62A5-CD972E3F4CC6}"/>
              </a:ext>
            </a:extLst>
          </p:cNvPr>
          <p:cNvSpPr txBox="1"/>
          <p:nvPr/>
        </p:nvSpPr>
        <p:spPr>
          <a:xfrm>
            <a:off x="804334" y="1432446"/>
            <a:ext cx="477520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R" sz="1600" b="1" dirty="0" err="1"/>
              <a:t>What</a:t>
            </a:r>
            <a:r>
              <a:rPr lang="es-CR" sz="1600" b="1" dirty="0"/>
              <a:t> do </a:t>
            </a:r>
            <a:r>
              <a:rPr lang="es-CR" sz="1600" b="1" dirty="0" err="1"/>
              <a:t>they</a:t>
            </a:r>
            <a:r>
              <a:rPr lang="es-CR" sz="1600" b="1" dirty="0"/>
              <a:t> do?</a:t>
            </a:r>
          </a:p>
          <a:p>
            <a:endParaRPr lang="es-CR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Buy natural gas in the U.S. (priced at Henry Hub)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Cool it to -162°C to turn it into liquid (LNG)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Load it onto specialized ships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Export it to Europe and Asia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CB009A4-ED72-952A-7CC9-9168A0BE1400}"/>
              </a:ext>
            </a:extLst>
          </p:cNvPr>
          <p:cNvSpPr txBox="1"/>
          <p:nvPr/>
        </p:nvSpPr>
        <p:spPr>
          <a:xfrm>
            <a:off x="6256867" y="1432446"/>
            <a:ext cx="477520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R" sz="1600" b="1" dirty="0" err="1"/>
              <a:t>How</a:t>
            </a:r>
            <a:r>
              <a:rPr lang="es-CR" sz="1600" b="1" dirty="0"/>
              <a:t> </a:t>
            </a:r>
            <a:r>
              <a:rPr lang="es-CR" sz="1600" b="1" dirty="0" err="1"/>
              <a:t>they</a:t>
            </a:r>
            <a:r>
              <a:rPr lang="es-CR" sz="1600" b="1" dirty="0"/>
              <a:t> </a:t>
            </a:r>
            <a:r>
              <a:rPr lang="es-CR" sz="1600" b="1" dirty="0" err="1"/>
              <a:t>make</a:t>
            </a:r>
            <a:r>
              <a:rPr lang="es-CR" sz="1600" b="1" dirty="0"/>
              <a:t> </a:t>
            </a:r>
            <a:r>
              <a:rPr lang="es-CR" sz="1600" b="1" dirty="0" err="1"/>
              <a:t>money</a:t>
            </a:r>
            <a:r>
              <a:rPr lang="es-CR" sz="1600" b="1" dirty="0"/>
              <a:t>?</a:t>
            </a:r>
          </a:p>
          <a:p>
            <a:endParaRPr lang="es-CR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Long-term 15-20 year contracts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“Take or pay” structure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Customers pay fixed liquefaction fees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Limited dependence on short-term gas price moves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0D30C65-8AFB-3F47-5E5B-E31F884DAF8D}"/>
              </a:ext>
            </a:extLst>
          </p:cNvPr>
          <p:cNvSpPr txBox="1"/>
          <p:nvPr/>
        </p:nvSpPr>
        <p:spPr>
          <a:xfrm>
            <a:off x="804334" y="3676892"/>
            <a:ext cx="477520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R" sz="1600" b="1" dirty="0">
                <a:solidFill>
                  <a:schemeClr val="bg1"/>
                </a:solidFill>
              </a:rPr>
              <a:t>Who </a:t>
            </a:r>
            <a:r>
              <a:rPr lang="es-CR" sz="1600" b="1" dirty="0" err="1">
                <a:solidFill>
                  <a:schemeClr val="bg1"/>
                </a:solidFill>
              </a:rPr>
              <a:t>they</a:t>
            </a:r>
            <a:r>
              <a:rPr lang="es-CR" sz="1600" b="1" dirty="0">
                <a:solidFill>
                  <a:schemeClr val="bg1"/>
                </a:solidFill>
              </a:rPr>
              <a:t> </a:t>
            </a:r>
            <a:r>
              <a:rPr lang="es-CR" sz="1600" b="1" dirty="0" err="1">
                <a:solidFill>
                  <a:schemeClr val="bg1"/>
                </a:solidFill>
              </a:rPr>
              <a:t>sell</a:t>
            </a:r>
            <a:r>
              <a:rPr lang="es-CR" sz="1600" b="1" dirty="0">
                <a:solidFill>
                  <a:schemeClr val="bg1"/>
                </a:solidFill>
              </a:rPr>
              <a:t> </a:t>
            </a:r>
            <a:r>
              <a:rPr lang="es-CR" sz="1600" b="1" dirty="0" err="1">
                <a:solidFill>
                  <a:schemeClr val="bg1"/>
                </a:solidFill>
              </a:rPr>
              <a:t>to</a:t>
            </a:r>
            <a:r>
              <a:rPr lang="es-CR" sz="1600" b="1" dirty="0">
                <a:solidFill>
                  <a:schemeClr val="bg1"/>
                </a:solidFill>
              </a:rPr>
              <a:t>?</a:t>
            </a:r>
          </a:p>
          <a:p>
            <a:endParaRPr lang="es-CR" sz="1600" dirty="0">
              <a:solidFill>
                <a:schemeClr val="bg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bg1"/>
                </a:solidFill>
              </a:rPr>
              <a:t>European utilities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bg1"/>
                </a:solidFill>
              </a:rPr>
              <a:t>Asian utilities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bg1"/>
                </a:solidFill>
              </a:rPr>
              <a:t>Energy majors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bg1"/>
                </a:solidFill>
              </a:rPr>
              <a:t>National oil companies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F040869-8DA4-F24B-9C13-61B3AF3AF1A2}"/>
              </a:ext>
            </a:extLst>
          </p:cNvPr>
          <p:cNvSpPr txBox="1"/>
          <p:nvPr/>
        </p:nvSpPr>
        <p:spPr>
          <a:xfrm>
            <a:off x="6256867" y="3676892"/>
            <a:ext cx="477520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R" sz="1600" b="1" dirty="0" err="1">
                <a:solidFill>
                  <a:schemeClr val="bg1"/>
                </a:solidFill>
              </a:rPr>
              <a:t>Why</a:t>
            </a:r>
            <a:r>
              <a:rPr lang="es-CR" sz="1600" b="1" dirty="0">
                <a:solidFill>
                  <a:schemeClr val="bg1"/>
                </a:solidFill>
              </a:rPr>
              <a:t> </a:t>
            </a:r>
            <a:r>
              <a:rPr lang="es-CR" sz="1600" b="1" dirty="0" err="1">
                <a:solidFill>
                  <a:schemeClr val="bg1"/>
                </a:solidFill>
              </a:rPr>
              <a:t>They’re</a:t>
            </a:r>
            <a:r>
              <a:rPr lang="es-CR" sz="1600" b="1" dirty="0">
                <a:solidFill>
                  <a:schemeClr val="bg1"/>
                </a:solidFill>
              </a:rPr>
              <a:t> a Leader?</a:t>
            </a:r>
          </a:p>
          <a:p>
            <a:endParaRPr lang="es-CR" sz="1600" dirty="0">
              <a:solidFill>
                <a:schemeClr val="bg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bg1"/>
                </a:solidFill>
              </a:rPr>
              <a:t>Largest U.S. LNG exporter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bg1"/>
                </a:solidFill>
              </a:rPr>
              <a:t>Hard to replicate infrastructure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bg1"/>
                </a:solidFill>
              </a:rPr>
              <a:t>Ongoing capacity expansion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bg1"/>
                </a:solidFill>
              </a:rPr>
              <a:t>Long-term contracts already signed (reputation)</a:t>
            </a:r>
          </a:p>
        </p:txBody>
      </p:sp>
    </p:spTree>
    <p:extLst>
      <p:ext uri="{BB962C8B-B14F-4D97-AF65-F5344CB8AC3E}">
        <p14:creationId xmlns:p14="http://schemas.microsoft.com/office/powerpoint/2010/main" val="177150513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6BB323-9BB6-C832-AC21-C05829DA33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17E99D-CC41-F65C-CB11-8C8E8D1445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9612" y="130110"/>
            <a:ext cx="10772775" cy="768053"/>
          </a:xfrm>
        </p:spPr>
        <p:txBody>
          <a:bodyPr>
            <a:normAutofit fontScale="90000"/>
          </a:bodyPr>
          <a:lstStyle/>
          <a:p>
            <a:r>
              <a:rPr lang="en-US" sz="3600" dirty="0"/>
              <a:t>Cheniere Energy Is the Leading U.S. LNG Export Infrastructure Operator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06F81479-0BFF-D25E-A386-570C435EAA7A}"/>
              </a:ext>
            </a:extLst>
          </p:cNvPr>
          <p:cNvSpPr txBox="1">
            <a:spLocks/>
          </p:cNvSpPr>
          <p:nvPr/>
        </p:nvSpPr>
        <p:spPr>
          <a:xfrm>
            <a:off x="709612" y="689941"/>
            <a:ext cx="10772775" cy="483998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85000" lnSpcReduction="20000"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5400" kern="1200" spc="-120" baseline="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000" dirty="0"/>
              <a:t>It owns large industrial terminals that liquefy natural gas in the U.S. and ship it to utilities and energy companies worldwide under long-term contracts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C312506-1A90-EF8E-CCA0-3C7529E2F085}"/>
              </a:ext>
            </a:extLst>
          </p:cNvPr>
          <p:cNvSpPr txBox="1"/>
          <p:nvPr/>
        </p:nvSpPr>
        <p:spPr>
          <a:xfrm>
            <a:off x="709612" y="6289889"/>
            <a:ext cx="10669587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R" sz="1050" b="1" dirty="0" err="1"/>
              <a:t>Source</a:t>
            </a:r>
            <a:r>
              <a:rPr lang="es-CR" sz="1050" dirty="0"/>
              <a:t>: </a:t>
            </a:r>
            <a:r>
              <a:rPr lang="en-US" sz="1050" dirty="0"/>
              <a:t>Press Search, Cheniere Investor Relations 10Q Forms.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6A88875B-FF00-6474-9098-E8D772B43FA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6478" y="1574468"/>
            <a:ext cx="7149997" cy="4196357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E5C4C299-E601-B9BA-BF13-F2BB4EF02EEC}"/>
              </a:ext>
            </a:extLst>
          </p:cNvPr>
          <p:cNvSpPr txBox="1"/>
          <p:nvPr/>
        </p:nvSpPr>
        <p:spPr>
          <a:xfrm>
            <a:off x="7766475" y="1733770"/>
            <a:ext cx="4141790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Revenue Exposure: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Global LNG demand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Long-term contracted volumes</a:t>
            </a:r>
          </a:p>
          <a:p>
            <a:endParaRPr lang="en-US" b="1" dirty="0"/>
          </a:p>
          <a:p>
            <a:r>
              <a:rPr lang="en-US" b="1" dirty="0"/>
              <a:t>Cost Exposure: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Henry Hub gas price</a:t>
            </a:r>
          </a:p>
          <a:p>
            <a:endParaRPr lang="en-US" dirty="0"/>
          </a:p>
          <a:p>
            <a:r>
              <a:rPr lang="en-US" b="1" dirty="0"/>
              <a:t>Stability From: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15-20 year contracts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95% contracted capacity until 2030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Large-scale infrastructure</a:t>
            </a: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266514515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A90A35-5488-4BC1-9404-DD3CEB882A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DE90A5-ACFB-8E76-16EF-76442CFD78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9612" y="130110"/>
            <a:ext cx="10772775" cy="768053"/>
          </a:xfrm>
        </p:spPr>
        <p:txBody>
          <a:bodyPr>
            <a:normAutofit fontScale="90000"/>
          </a:bodyPr>
          <a:lstStyle/>
          <a:p>
            <a:r>
              <a:rPr lang="en-US" sz="3600" dirty="0"/>
              <a:t>Global LNG Supply Wave + European Rewiring = Structural Tailwind for U.S. Exporters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2FEE76D3-9BA2-EA80-5C7A-DC255A81CD01}"/>
              </a:ext>
            </a:extLst>
          </p:cNvPr>
          <p:cNvSpPr txBox="1">
            <a:spLocks/>
          </p:cNvSpPr>
          <p:nvPr/>
        </p:nvSpPr>
        <p:spPr>
          <a:xfrm>
            <a:off x="709612" y="927011"/>
            <a:ext cx="10772775" cy="483998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5400" kern="1200" spc="-120" baseline="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000" dirty="0"/>
              <a:t>EIA projects accelerating LNG supply growth in 2026 while Europe permanently reshapes its gas sourcing away from Russia.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E4321DA-37B5-833F-3866-ABF4E980072B}"/>
              </a:ext>
            </a:extLst>
          </p:cNvPr>
          <p:cNvSpPr txBox="1"/>
          <p:nvPr/>
        </p:nvSpPr>
        <p:spPr>
          <a:xfrm>
            <a:off x="709612" y="6289889"/>
            <a:ext cx="10669587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R" sz="1050" b="1" dirty="0" err="1"/>
              <a:t>Source</a:t>
            </a:r>
            <a:r>
              <a:rPr lang="es-CR" sz="1050" dirty="0"/>
              <a:t>: </a:t>
            </a:r>
            <a:r>
              <a:rPr lang="en-US" sz="1050" dirty="0"/>
              <a:t>U.S. Energy Information Administration (EIA), Gas Market Report, Q1 2026.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0CFAAED-87E3-C2D1-AADC-DE866ACD162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9200" y="1411009"/>
            <a:ext cx="7890933" cy="4486579"/>
          </a:xfrm>
          <a:prstGeom prst="rect">
            <a:avLst/>
          </a:prstGeom>
        </p:spPr>
      </p:pic>
      <p:sp>
        <p:nvSpPr>
          <p:cNvPr id="7" name="Oval 6">
            <a:extLst>
              <a:ext uri="{FF2B5EF4-FFF2-40B4-BE49-F238E27FC236}">
                <a16:creationId xmlns:a16="http://schemas.microsoft.com/office/drawing/2014/main" id="{C18454B9-3FB5-CDDB-C184-C63D3CECC1DA}"/>
              </a:ext>
            </a:extLst>
          </p:cNvPr>
          <p:cNvSpPr/>
          <p:nvPr/>
        </p:nvSpPr>
        <p:spPr>
          <a:xfrm>
            <a:off x="7907865" y="2658852"/>
            <a:ext cx="1159934" cy="965200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E14A7912-1FB5-4DC7-EAAF-A7B9D76B92E1}"/>
              </a:ext>
            </a:extLst>
          </p:cNvPr>
          <p:cNvSpPr/>
          <p:nvPr/>
        </p:nvSpPr>
        <p:spPr>
          <a:xfrm>
            <a:off x="1729133" y="2402648"/>
            <a:ext cx="1266616" cy="1026351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FF983CC-C9AB-0DE9-DCF9-3CD30F83AE37}"/>
              </a:ext>
            </a:extLst>
          </p:cNvPr>
          <p:cNvSpPr txBox="1"/>
          <p:nvPr/>
        </p:nvSpPr>
        <p:spPr>
          <a:xfrm>
            <a:off x="9245599" y="2850375"/>
            <a:ext cx="21336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Largest LNG supply build out since 2019 (per EIA)</a:t>
            </a:r>
          </a:p>
        </p:txBody>
      </p:sp>
    </p:spTree>
    <p:extLst>
      <p:ext uri="{BB962C8B-B14F-4D97-AF65-F5344CB8AC3E}">
        <p14:creationId xmlns:p14="http://schemas.microsoft.com/office/powerpoint/2010/main" val="396431902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9F75E9-CF50-A5F5-E3E6-DDE21EF3C0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E26904-E999-BC65-AEE4-0678630D70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9612" y="130110"/>
            <a:ext cx="10772775" cy="768053"/>
          </a:xfrm>
        </p:spPr>
        <p:txBody>
          <a:bodyPr>
            <a:normAutofit fontScale="90000"/>
          </a:bodyPr>
          <a:lstStyle/>
          <a:p>
            <a:r>
              <a:rPr lang="en-US" sz="3600" dirty="0"/>
              <a:t>Global LNG Supply Wave + European Rewiring = Structural Tailwind for U.S. Exporters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9C4CB631-4293-79FA-214B-363DF673D821}"/>
              </a:ext>
            </a:extLst>
          </p:cNvPr>
          <p:cNvSpPr txBox="1">
            <a:spLocks/>
          </p:cNvSpPr>
          <p:nvPr/>
        </p:nvSpPr>
        <p:spPr>
          <a:xfrm>
            <a:off x="709612" y="927011"/>
            <a:ext cx="10772775" cy="483998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5400" kern="1200" spc="-120" baseline="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000" dirty="0"/>
              <a:t>EIA projects accelerating LNG supply growth in 2026 while Europe permanently reshapes its gas sourcing away from Russia.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B64CF90-0F9A-3749-4BFF-0D56A1FCEFAE}"/>
              </a:ext>
            </a:extLst>
          </p:cNvPr>
          <p:cNvSpPr txBox="1"/>
          <p:nvPr/>
        </p:nvSpPr>
        <p:spPr>
          <a:xfrm>
            <a:off x="709612" y="6289889"/>
            <a:ext cx="10669587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R" sz="1050" b="1" dirty="0" err="1"/>
              <a:t>Source</a:t>
            </a:r>
            <a:r>
              <a:rPr lang="es-CR" sz="1050" dirty="0"/>
              <a:t>: </a:t>
            </a:r>
            <a:r>
              <a:rPr lang="en-US" sz="1050" dirty="0"/>
              <a:t>U.S. Energy Information Administration (EIA), Gas Market Report, Q1 2026.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CC3B5E15-5E52-FE99-5F60-67086DA8201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9612" y="1744155"/>
            <a:ext cx="8400250" cy="4186834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940BDCFA-4EF2-BDB9-E118-CE142B997597}"/>
              </a:ext>
            </a:extLst>
          </p:cNvPr>
          <p:cNvSpPr txBox="1"/>
          <p:nvPr/>
        </p:nvSpPr>
        <p:spPr>
          <a:xfrm>
            <a:off x="9194798" y="2850375"/>
            <a:ext cx="2743201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FF0000"/>
                </a:solidFill>
              </a:rPr>
              <a:t>Europe is structurally removing Russian gas.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600" dirty="0">
              <a:solidFill>
                <a:srgbClr val="FF0000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FF0000"/>
                </a:solidFill>
              </a:rPr>
              <a:t>That supply gap must be filled. U.S. LNG is the primary marginal supplier</a:t>
            </a:r>
          </a:p>
        </p:txBody>
      </p:sp>
    </p:spTree>
    <p:extLst>
      <p:ext uri="{BB962C8B-B14F-4D97-AF65-F5344CB8AC3E}">
        <p14:creationId xmlns:p14="http://schemas.microsoft.com/office/powerpoint/2010/main" val="121497386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F47DA7-F3D9-4790-2A75-AC65697DEC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175F15-DDF8-D354-2B0B-DFEA2F35D2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9612" y="130110"/>
            <a:ext cx="10772775" cy="768053"/>
          </a:xfrm>
        </p:spPr>
        <p:txBody>
          <a:bodyPr>
            <a:normAutofit/>
          </a:bodyPr>
          <a:lstStyle/>
          <a:p>
            <a:r>
              <a:rPr lang="en-US" sz="3600" dirty="0"/>
              <a:t>Attractive Relative Valuation Within LNG &amp; Midstream Peers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E982C569-D936-18DC-96ED-1689499C0AD5}"/>
              </a:ext>
            </a:extLst>
          </p:cNvPr>
          <p:cNvSpPr txBox="1">
            <a:spLocks/>
          </p:cNvSpPr>
          <p:nvPr/>
        </p:nvSpPr>
        <p:spPr>
          <a:xfrm>
            <a:off x="709612" y="689941"/>
            <a:ext cx="10772775" cy="48399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5400" kern="1200" spc="-120" baseline="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1800" dirty="0"/>
              <a:t>Cheniere’s  ~12x P/E compares favorably to peers trading 20-35x earnings.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3BD51F6-2294-8488-9107-BC71ABC87666}"/>
              </a:ext>
            </a:extLst>
          </p:cNvPr>
          <p:cNvSpPr txBox="1"/>
          <p:nvPr/>
        </p:nvSpPr>
        <p:spPr>
          <a:xfrm>
            <a:off x="709612" y="6289889"/>
            <a:ext cx="10669587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R" sz="1050" b="1" dirty="0" err="1"/>
              <a:t>Source</a:t>
            </a:r>
            <a:r>
              <a:rPr lang="es-CR" sz="1050" dirty="0"/>
              <a:t>: </a:t>
            </a:r>
            <a:r>
              <a:rPr lang="en-US" sz="1050" dirty="0" err="1"/>
              <a:t>FinViz</a:t>
            </a:r>
            <a:r>
              <a:rPr lang="en-US" sz="1050" dirty="0"/>
              <a:t>.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F995903A-C7E4-087D-D545-6710807FEE2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0694" t="29369" r="30486" b="29239"/>
          <a:stretch>
            <a:fillRect/>
          </a:stretch>
        </p:blipFill>
        <p:spPr>
          <a:xfrm>
            <a:off x="1600199" y="1651000"/>
            <a:ext cx="8686801" cy="3931596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5E2E30EF-F1E7-C4B1-0EC4-CC296199D4FF}"/>
              </a:ext>
            </a:extLst>
          </p:cNvPr>
          <p:cNvSpPr/>
          <p:nvPr/>
        </p:nvSpPr>
        <p:spPr>
          <a:xfrm>
            <a:off x="1600199" y="2413000"/>
            <a:ext cx="8585201" cy="355600"/>
          </a:xfrm>
          <a:prstGeom prst="rect">
            <a:avLst/>
          </a:prstGeom>
          <a:solidFill>
            <a:srgbClr val="FFFF00">
              <a:alpha val="25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489043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85190D-635A-3EE0-E360-5ABCEB1DF6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A3BBCC-1800-4D5D-71D6-AEC81558AC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9612" y="130110"/>
            <a:ext cx="10772775" cy="768053"/>
          </a:xfrm>
        </p:spPr>
        <p:txBody>
          <a:bodyPr>
            <a:normAutofit/>
          </a:bodyPr>
          <a:lstStyle/>
          <a:p>
            <a:r>
              <a:rPr lang="en-US" sz="3600" dirty="0"/>
              <a:t>Attractive Relative Valuation Within LNG &amp; Midstream Peers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7E25A709-17CA-11E9-AFC6-794134FE91C5}"/>
              </a:ext>
            </a:extLst>
          </p:cNvPr>
          <p:cNvSpPr txBox="1">
            <a:spLocks/>
          </p:cNvSpPr>
          <p:nvPr/>
        </p:nvSpPr>
        <p:spPr>
          <a:xfrm>
            <a:off x="709612" y="689941"/>
            <a:ext cx="10772775" cy="48399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5400" kern="1200" spc="-120" baseline="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1800" dirty="0"/>
              <a:t>Cheniere’s  ~12x P/E compares favorably to peers trading 20-35x earnings.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5A4B6E6-21E5-7571-7E9A-6AF5712AF00F}"/>
              </a:ext>
            </a:extLst>
          </p:cNvPr>
          <p:cNvSpPr txBox="1"/>
          <p:nvPr/>
        </p:nvSpPr>
        <p:spPr>
          <a:xfrm>
            <a:off x="709612" y="6289889"/>
            <a:ext cx="10669587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R" sz="1050" b="1" dirty="0" err="1"/>
              <a:t>Source</a:t>
            </a:r>
            <a:r>
              <a:rPr lang="es-CR" sz="1050" dirty="0"/>
              <a:t>: </a:t>
            </a:r>
            <a:r>
              <a:rPr lang="en-US" sz="1050" dirty="0" err="1"/>
              <a:t>FinViz</a:t>
            </a:r>
            <a:r>
              <a:rPr lang="en-US" sz="1050" dirty="0"/>
              <a:t>.</a:t>
            </a:r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1BDABB4B-6A49-ADD8-EA0F-6F39EA7269A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226079" y="1377595"/>
            <a:ext cx="9340322" cy="46365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5535540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E9CC9B-B87B-420C-88B5-472CF20033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086FBB2B-E2CD-B984-C1BD-E1233CE389B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6816"/>
          <a:stretch>
            <a:fillRect/>
          </a:stretch>
        </p:blipFill>
        <p:spPr>
          <a:xfrm>
            <a:off x="1410034" y="1222475"/>
            <a:ext cx="9371932" cy="5168993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387F04C5-D71F-6631-4FA6-7E15A1B8072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167" r="75207" b="84551"/>
          <a:stretch>
            <a:fillRect/>
          </a:stretch>
        </p:blipFill>
        <p:spPr>
          <a:xfrm>
            <a:off x="9765966" y="221575"/>
            <a:ext cx="2031999" cy="848563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32E9DEDB-3EAB-E4BF-FE1B-3F9D7627EF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9612" y="130110"/>
            <a:ext cx="10772775" cy="768053"/>
          </a:xfrm>
        </p:spPr>
        <p:txBody>
          <a:bodyPr>
            <a:normAutofit/>
          </a:bodyPr>
          <a:lstStyle/>
          <a:p>
            <a:r>
              <a:rPr lang="es-CR" sz="3600" dirty="0"/>
              <a:t>D</a:t>
            </a:r>
            <a:r>
              <a:rPr lang="en-US" sz="3600" dirty="0"/>
              <a:t>CF Valuation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A346A5D0-E3B3-5881-6429-7BD1DA1BEC08}"/>
              </a:ext>
            </a:extLst>
          </p:cNvPr>
          <p:cNvSpPr txBox="1">
            <a:spLocks/>
          </p:cNvSpPr>
          <p:nvPr/>
        </p:nvSpPr>
        <p:spPr>
          <a:xfrm>
            <a:off x="709612" y="689941"/>
            <a:ext cx="10772775" cy="48399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5400" kern="1200" spc="-120" baseline="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1800" dirty="0"/>
              <a:t>Even assuming margin normalization and a modest exit multiple, intrinsic value remains near current levels.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2497020-C793-60D4-1051-A611624CC743}"/>
              </a:ext>
            </a:extLst>
          </p:cNvPr>
          <p:cNvSpPr txBox="1"/>
          <p:nvPr/>
        </p:nvSpPr>
        <p:spPr>
          <a:xfrm>
            <a:off x="709612" y="6289889"/>
            <a:ext cx="10669587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R" sz="1050" b="1" dirty="0" err="1"/>
              <a:t>Source</a:t>
            </a:r>
            <a:r>
              <a:rPr lang="es-CR" sz="1050" dirty="0"/>
              <a:t>: </a:t>
            </a:r>
            <a:r>
              <a:rPr lang="en-US" sz="1050" dirty="0" err="1"/>
              <a:t>Factset</a:t>
            </a:r>
            <a:r>
              <a:rPr lang="en-US" sz="105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05757651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279C15-E268-43B1-8BA2-6F7C134293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603043-2DCA-1BFF-EDFF-1563777629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9612" y="130110"/>
            <a:ext cx="10772775" cy="768053"/>
          </a:xfrm>
        </p:spPr>
        <p:txBody>
          <a:bodyPr>
            <a:normAutofit fontScale="90000"/>
          </a:bodyPr>
          <a:lstStyle/>
          <a:p>
            <a:r>
              <a:rPr lang="en-US" sz="3600" dirty="0"/>
              <a:t>Strategic Diversification Through LNG: Low Correlation Unlocks Portfolio Resilience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C4CD770F-AFAD-C450-8452-B75329FC22C0}"/>
              </a:ext>
            </a:extLst>
          </p:cNvPr>
          <p:cNvSpPr txBox="1">
            <a:spLocks/>
          </p:cNvSpPr>
          <p:nvPr/>
        </p:nvSpPr>
        <p:spPr>
          <a:xfrm>
            <a:off x="709611" y="833429"/>
            <a:ext cx="10772775" cy="48399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5400" kern="1200" spc="-120" baseline="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1800" dirty="0"/>
              <a:t>LNG demonstrates independence from traditional tech and industrial holdings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DA75E8B-A254-822F-7E25-48D087DACB7D}"/>
              </a:ext>
            </a:extLst>
          </p:cNvPr>
          <p:cNvSpPr txBox="1"/>
          <p:nvPr/>
        </p:nvSpPr>
        <p:spPr>
          <a:xfrm>
            <a:off x="709612" y="6289889"/>
            <a:ext cx="10669587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R" sz="1050" b="1" dirty="0" err="1"/>
              <a:t>Source</a:t>
            </a:r>
            <a:r>
              <a:rPr lang="es-CR" sz="1050" dirty="0"/>
              <a:t>: </a:t>
            </a:r>
            <a:r>
              <a:rPr lang="en-US" sz="1050" dirty="0" err="1"/>
              <a:t>FinViz</a:t>
            </a:r>
            <a:r>
              <a:rPr lang="en-US" sz="1050" dirty="0"/>
              <a:t>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D784480-1A9B-F31F-6AEA-BD702671919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44455" y="1621602"/>
            <a:ext cx="5421352" cy="4059936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718CE3CC-A0A6-FD00-9F62-A7CAC284048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9297"/>
          <a:stretch>
            <a:fillRect/>
          </a:stretch>
        </p:blipFill>
        <p:spPr>
          <a:xfrm>
            <a:off x="1035804" y="1623926"/>
            <a:ext cx="4911742" cy="4057612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FB53B205-C75D-D662-7449-C7305D956CD6}"/>
              </a:ext>
            </a:extLst>
          </p:cNvPr>
          <p:cNvSpPr/>
          <p:nvPr/>
        </p:nvSpPr>
        <p:spPr>
          <a:xfrm>
            <a:off x="965199" y="3429000"/>
            <a:ext cx="10517187" cy="338667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489605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74EF3A-F17F-AB89-E37D-6F7A146105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C66AFF-67BA-4108-674F-BC78B61499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9612" y="130110"/>
            <a:ext cx="10772775" cy="768053"/>
          </a:xfrm>
        </p:spPr>
        <p:txBody>
          <a:bodyPr>
            <a:normAutofit/>
          </a:bodyPr>
          <a:lstStyle/>
          <a:p>
            <a:r>
              <a:rPr lang="es-CR" sz="3600" dirty="0"/>
              <a:t>Target </a:t>
            </a:r>
            <a:r>
              <a:rPr lang="es-CR" sz="3600" dirty="0" err="1"/>
              <a:t>Prices</a:t>
            </a:r>
            <a:r>
              <a:rPr lang="es-CR" sz="3600" dirty="0"/>
              <a:t> &amp; </a:t>
            </a:r>
            <a:r>
              <a:rPr lang="es-CR" sz="3600" dirty="0" err="1"/>
              <a:t>Consensus</a:t>
            </a:r>
            <a:endParaRPr lang="en-US" sz="3600" dirty="0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CF477145-9A4F-53FB-81D2-75328C9393EC}"/>
              </a:ext>
            </a:extLst>
          </p:cNvPr>
          <p:cNvSpPr txBox="1">
            <a:spLocks/>
          </p:cNvSpPr>
          <p:nvPr/>
        </p:nvSpPr>
        <p:spPr>
          <a:xfrm>
            <a:off x="709612" y="689941"/>
            <a:ext cx="10772775" cy="48399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5400" kern="1200" spc="-120" baseline="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1800" dirty="0"/>
              <a:t>Analyst Consensus Points to Strong Upside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637704D-98E0-C8AA-7FC4-5ECE08C0238E}"/>
              </a:ext>
            </a:extLst>
          </p:cNvPr>
          <p:cNvSpPr txBox="1"/>
          <p:nvPr/>
        </p:nvSpPr>
        <p:spPr>
          <a:xfrm>
            <a:off x="709612" y="6289889"/>
            <a:ext cx="10669587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R" sz="1050" b="1" dirty="0" err="1"/>
              <a:t>Source</a:t>
            </a:r>
            <a:r>
              <a:rPr lang="es-CR" sz="1050" dirty="0"/>
              <a:t>: </a:t>
            </a:r>
            <a:r>
              <a:rPr lang="en-US" sz="1050" dirty="0" err="1"/>
              <a:t>Factset</a:t>
            </a:r>
            <a:r>
              <a:rPr lang="en-US" sz="1050" dirty="0"/>
              <a:t>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E9E18CF-8934-27DC-1623-68662016A58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3432" y="1218604"/>
            <a:ext cx="8705322" cy="2317604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8FE6E7B5-BD16-ECD4-6935-6A38357CCEC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40253" y="3580873"/>
            <a:ext cx="8090681" cy="2868890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72A068CD-ED39-4289-32D6-B4AB6B058882}"/>
              </a:ext>
            </a:extLst>
          </p:cNvPr>
          <p:cNvSpPr/>
          <p:nvPr/>
        </p:nvSpPr>
        <p:spPr>
          <a:xfrm>
            <a:off x="9084733" y="3536208"/>
            <a:ext cx="1574800" cy="3007597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E64696A-3570-4D99-D008-3D4CD3D0FB7E}"/>
              </a:ext>
            </a:extLst>
          </p:cNvPr>
          <p:cNvSpPr txBox="1"/>
          <p:nvPr/>
        </p:nvSpPr>
        <p:spPr>
          <a:xfrm>
            <a:off x="10220853" y="3137126"/>
            <a:ext cx="12615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AVG: </a:t>
            </a:r>
            <a:r>
              <a:rPr lang="en-US" dirty="0">
                <a:solidFill>
                  <a:srgbClr val="FF0000"/>
                </a:solidFill>
              </a:rPr>
              <a:t>21.1%</a:t>
            </a:r>
          </a:p>
        </p:txBody>
      </p:sp>
    </p:spTree>
    <p:extLst>
      <p:ext uri="{BB962C8B-B14F-4D97-AF65-F5344CB8AC3E}">
        <p14:creationId xmlns:p14="http://schemas.microsoft.com/office/powerpoint/2010/main" val="65226814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DE51A7-7E7D-E523-C456-697E356299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19D207-9B89-F29D-FDD0-E6BB84A089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9612" y="130110"/>
            <a:ext cx="10772775" cy="768053"/>
          </a:xfrm>
        </p:spPr>
        <p:txBody>
          <a:bodyPr>
            <a:normAutofit/>
          </a:bodyPr>
          <a:lstStyle/>
          <a:p>
            <a:r>
              <a:rPr lang="es-CR" sz="3600" dirty="0" err="1"/>
              <a:t>Technical</a:t>
            </a:r>
            <a:r>
              <a:rPr lang="es-CR" sz="3600" dirty="0"/>
              <a:t> </a:t>
            </a:r>
            <a:r>
              <a:rPr lang="es-CR" sz="3600" dirty="0" err="1"/>
              <a:t>Analysis</a:t>
            </a:r>
            <a:endParaRPr lang="en-US" sz="36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1263211-AB32-81F3-5081-DE73157566DB}"/>
              </a:ext>
            </a:extLst>
          </p:cNvPr>
          <p:cNvSpPr txBox="1"/>
          <p:nvPr/>
        </p:nvSpPr>
        <p:spPr>
          <a:xfrm>
            <a:off x="709612" y="6289889"/>
            <a:ext cx="10669587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R" sz="1050" b="1" dirty="0" err="1"/>
              <a:t>Source</a:t>
            </a:r>
            <a:r>
              <a:rPr lang="es-CR" sz="1050" dirty="0"/>
              <a:t>: </a:t>
            </a:r>
            <a:r>
              <a:rPr lang="en-US" sz="1050" dirty="0" err="1"/>
              <a:t>FinViz</a:t>
            </a:r>
            <a:r>
              <a:rPr lang="en-US" sz="1050" dirty="0"/>
              <a:t>.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8907535-134F-C41C-FE4A-C8010181637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2512" y="1176876"/>
            <a:ext cx="11043886" cy="45042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655897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0FA2D6-51F4-EBB7-572A-6BB0AB42A9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F0DC72-8ADB-43CA-56D0-2FAEF2CA3D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9612" y="130110"/>
            <a:ext cx="10772775" cy="768053"/>
          </a:xfrm>
        </p:spPr>
        <p:txBody>
          <a:bodyPr>
            <a:normAutofit/>
          </a:bodyPr>
          <a:lstStyle/>
          <a:p>
            <a:r>
              <a:rPr lang="en-US" sz="3600" dirty="0"/>
              <a:t>Initiate 5-8% Position in Cheniere Energy (LNG)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E435F9F-5A03-3087-83D5-E9226CD872B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76626" y="1419274"/>
            <a:ext cx="9438746" cy="4670673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231D3789-7B7E-1FD7-1A32-EDCF7E8436C9}"/>
              </a:ext>
            </a:extLst>
          </p:cNvPr>
          <p:cNvSpPr txBox="1"/>
          <p:nvPr/>
        </p:nvSpPr>
        <p:spPr>
          <a:xfrm>
            <a:off x="709612" y="6289889"/>
            <a:ext cx="10669587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R" sz="1050" b="1" dirty="0" err="1"/>
              <a:t>Source</a:t>
            </a:r>
            <a:r>
              <a:rPr lang="es-CR" sz="1050" dirty="0"/>
              <a:t>: </a:t>
            </a:r>
            <a:r>
              <a:rPr lang="en-US" sz="1050" dirty="0" err="1"/>
              <a:t>Finviz</a:t>
            </a:r>
            <a:r>
              <a:rPr lang="en-US" sz="1050" dirty="0"/>
              <a:t>; Yahoo Finance; </a:t>
            </a:r>
            <a:r>
              <a:rPr lang="en-US" sz="1050" dirty="0" err="1"/>
              <a:t>TipRanks</a:t>
            </a:r>
            <a:r>
              <a:rPr lang="en-US" sz="1050" dirty="0"/>
              <a:t> analyst consensus data (Feb 2026).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7DDA3ED3-E46B-DDE4-E273-C9ABCC87C7DF}"/>
              </a:ext>
            </a:extLst>
          </p:cNvPr>
          <p:cNvSpPr txBox="1">
            <a:spLocks/>
          </p:cNvSpPr>
          <p:nvPr/>
        </p:nvSpPr>
        <p:spPr>
          <a:xfrm>
            <a:off x="709612" y="689941"/>
            <a:ext cx="10772775" cy="48399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5400" kern="1200" spc="-120" baseline="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000" dirty="0"/>
              <a:t>Structural LNG Infrastructure Exposure to Improve Portfolio Risk-Adjusted Returns</a:t>
            </a:r>
          </a:p>
        </p:txBody>
      </p:sp>
      <p:pic>
        <p:nvPicPr>
          <p:cNvPr id="3074" name="Picture 2" descr="Investor Relations :: Cheniere Energy, Inc. (LNG)">
            <a:extLst>
              <a:ext uri="{FF2B5EF4-FFF2-40B4-BE49-F238E27FC236}">
                <a16:creationId xmlns:a16="http://schemas.microsoft.com/office/drawing/2014/main" id="{8C03EFE6-301D-034A-A8D9-30F499BD678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92167" y="5078300"/>
            <a:ext cx="1257300" cy="3604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184989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171CF2-7B83-2891-1978-2CE9F7DBD0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7C272E-1DC1-E756-9DB8-FEB7C44556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9612" y="130110"/>
            <a:ext cx="10772775" cy="768053"/>
          </a:xfrm>
        </p:spPr>
        <p:txBody>
          <a:bodyPr>
            <a:normAutofit/>
          </a:bodyPr>
          <a:lstStyle/>
          <a:p>
            <a:r>
              <a:rPr lang="es-CR" sz="3600" dirty="0"/>
              <a:t>Pros and </a:t>
            </a:r>
            <a:r>
              <a:rPr lang="es-CR" sz="3600" dirty="0" err="1"/>
              <a:t>Cons</a:t>
            </a:r>
            <a:endParaRPr lang="en-US" sz="3600" dirty="0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AF6E587E-A5F9-E7BF-8402-F5BC35AD3F31}"/>
              </a:ext>
            </a:extLst>
          </p:cNvPr>
          <p:cNvSpPr txBox="1">
            <a:spLocks/>
          </p:cNvSpPr>
          <p:nvPr/>
        </p:nvSpPr>
        <p:spPr>
          <a:xfrm>
            <a:off x="709612" y="689941"/>
            <a:ext cx="10772775" cy="48399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5400" kern="1200" spc="-120" baseline="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1700" dirty="0"/>
              <a:t>Cheniere: Contracted Infrastructure Model with Commodity &amp; Execution Risk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0F607B8-6BD5-0846-7921-A3FEFD0ACECE}"/>
              </a:ext>
            </a:extLst>
          </p:cNvPr>
          <p:cNvSpPr txBox="1"/>
          <p:nvPr/>
        </p:nvSpPr>
        <p:spPr>
          <a:xfrm>
            <a:off x="709612" y="6289889"/>
            <a:ext cx="10669587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R" sz="1050" b="1" dirty="0" err="1"/>
              <a:t>Source</a:t>
            </a:r>
            <a:r>
              <a:rPr lang="es-CR" sz="1050" dirty="0"/>
              <a:t>: </a:t>
            </a:r>
            <a:r>
              <a:rPr lang="en-US" sz="1050" dirty="0" err="1"/>
              <a:t>FinViz</a:t>
            </a:r>
            <a:r>
              <a:rPr lang="en-US" sz="1050" dirty="0"/>
              <a:t>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C56105F-D008-6160-DCE7-6BB36FE72050}"/>
              </a:ext>
            </a:extLst>
          </p:cNvPr>
          <p:cNvSpPr txBox="1"/>
          <p:nvPr/>
        </p:nvSpPr>
        <p:spPr>
          <a:xfrm>
            <a:off x="1001609" y="1173939"/>
            <a:ext cx="4306992" cy="48936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Pros</a:t>
            </a:r>
            <a:br>
              <a:rPr lang="en-US" sz="1400" b="1" dirty="0"/>
            </a:br>
            <a:endParaRPr lang="en-US" sz="1400" b="1" dirty="0"/>
          </a:p>
          <a:p>
            <a:r>
              <a:rPr lang="en-US" sz="1400" b="1" dirty="0"/>
              <a:t>Long-Term Contracted Revenue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400" dirty="0"/>
              <a:t>~95% of LNG production capacity contracted into mid-2030s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400" dirty="0"/>
              <a:t>High revenue visibility</a:t>
            </a:r>
          </a:p>
          <a:p>
            <a:br>
              <a:rPr lang="en-US" sz="1400" b="1" dirty="0"/>
            </a:br>
            <a:r>
              <a:rPr lang="en-US" sz="1400" b="1" dirty="0"/>
              <a:t>Scale &amp; Market Leadership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400" dirty="0"/>
              <a:t>Largest U.S. LNG exporter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400" dirty="0"/>
              <a:t>Second-largest globally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400" dirty="0"/>
              <a:t>Competitive moat</a:t>
            </a:r>
          </a:p>
          <a:p>
            <a:br>
              <a:rPr lang="en-US" sz="1400" b="1" dirty="0"/>
            </a:br>
            <a:r>
              <a:rPr lang="en-US" sz="1400" b="1" dirty="0"/>
              <a:t>Infrastructure Barriers to Entry</a:t>
            </a:r>
            <a:endParaRPr lang="en-US" sz="1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Liquefaction terminals require: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400" dirty="0"/>
              <a:t>Multi-year construction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400" dirty="0"/>
              <a:t>Billions in capital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400" dirty="0"/>
              <a:t>Regulatory approval</a:t>
            </a:r>
            <a:br>
              <a:rPr lang="en-US" sz="1400" dirty="0"/>
            </a:br>
            <a:endParaRPr lang="en-US" sz="1400" dirty="0"/>
          </a:p>
          <a:p>
            <a:r>
              <a:rPr lang="en-US" sz="1400" b="1" dirty="0"/>
              <a:t>Strong Operating Cash Flow Supports: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Debt reduction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Buybacks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Dividends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F3C1AFA-01A2-D86C-BBE2-63D75AC1C4F2}"/>
              </a:ext>
            </a:extLst>
          </p:cNvPr>
          <p:cNvSpPr txBox="1"/>
          <p:nvPr/>
        </p:nvSpPr>
        <p:spPr>
          <a:xfrm>
            <a:off x="6555742" y="1173939"/>
            <a:ext cx="4306992" cy="45858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Cons</a:t>
            </a:r>
            <a:br>
              <a:rPr lang="en-US" sz="1600" b="1" dirty="0"/>
            </a:br>
            <a:endParaRPr lang="en-US" sz="1600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Profitability </a:t>
            </a:r>
            <a:r>
              <a:rPr lang="en-US" sz="1600" b="1" dirty="0"/>
              <a:t>exposed</a:t>
            </a:r>
            <a:r>
              <a:rPr lang="en-US" sz="1600" dirty="0"/>
              <a:t> to compression in the spread between </a:t>
            </a:r>
            <a:r>
              <a:rPr lang="en-US" sz="1600" b="1" dirty="0"/>
              <a:t>U.S. natural gas prices and global LNG pricing</a:t>
            </a:r>
            <a:br>
              <a:rPr lang="en-US" sz="1600" dirty="0"/>
            </a:br>
            <a:endParaRPr lang="en-US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High capital intensity and leverage increase </a:t>
            </a:r>
            <a:r>
              <a:rPr lang="en-US" sz="1600" b="1" dirty="0"/>
              <a:t>sensitivity to interest rates</a:t>
            </a:r>
            <a:r>
              <a:rPr lang="en-US" sz="1600" dirty="0"/>
              <a:t> and refinancing conditions</a:t>
            </a:r>
            <a:br>
              <a:rPr lang="en-US" sz="1600" dirty="0"/>
            </a:br>
            <a:endParaRPr lang="en-US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Execution risk related to Corpus Christi Stage 3 expansion and future capacity additions</a:t>
            </a:r>
            <a:br>
              <a:rPr lang="en-US" sz="1600" dirty="0"/>
            </a:br>
            <a:endParaRPr lang="en-US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Regulatory and export policy risk given U.S. LNG approvals are subject to federal oversight</a:t>
            </a:r>
            <a:br>
              <a:rPr lang="en-US" sz="1600" dirty="0"/>
            </a:br>
            <a:endParaRPr lang="en-US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Global economic slowdown could reduce LNG demand and pressure export volumes</a:t>
            </a:r>
          </a:p>
        </p:txBody>
      </p:sp>
    </p:spTree>
    <p:extLst>
      <p:ext uri="{BB962C8B-B14F-4D97-AF65-F5344CB8AC3E}">
        <p14:creationId xmlns:p14="http://schemas.microsoft.com/office/powerpoint/2010/main" val="293430495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427E3D-34CB-2303-9CCD-09D47A3FFC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511926-C78E-4DB2-FEBA-FCC4A69A16F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s-CR" dirty="0" err="1"/>
              <a:t>Appendix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BB9FBD3-D176-A23A-F170-E748A7F511B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s-CR" dirty="0"/>
              <a:t>Phoenix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69839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6EE196-5C18-C95D-EA00-0299A6CAFB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AEF58A-8C66-FDC8-750D-358B0739D1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9612" y="130110"/>
            <a:ext cx="10772775" cy="768053"/>
          </a:xfrm>
        </p:spPr>
        <p:txBody>
          <a:bodyPr>
            <a:normAutofit/>
          </a:bodyPr>
          <a:lstStyle/>
          <a:p>
            <a:r>
              <a:rPr lang="en-US" sz="3600" dirty="0"/>
              <a:t>Financials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E94A55C-3C2A-AD87-ADA1-30D2F3D5AD36}"/>
              </a:ext>
            </a:extLst>
          </p:cNvPr>
          <p:cNvSpPr txBox="1"/>
          <p:nvPr/>
        </p:nvSpPr>
        <p:spPr>
          <a:xfrm>
            <a:off x="709612" y="6289889"/>
            <a:ext cx="10669587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R" sz="1050" b="1" dirty="0" err="1"/>
              <a:t>Source</a:t>
            </a:r>
            <a:r>
              <a:rPr lang="es-CR" sz="1050" dirty="0"/>
              <a:t>: </a:t>
            </a:r>
            <a:r>
              <a:rPr lang="en-US" sz="1050" dirty="0" err="1"/>
              <a:t>TipRanks</a:t>
            </a:r>
            <a:r>
              <a:rPr lang="en-US" sz="1050" dirty="0"/>
              <a:t>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753FA33-94A7-FC2A-BC0F-375717EDB32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00201" y="898163"/>
            <a:ext cx="7958667" cy="2392449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AC5B1965-6FC0-F226-BDD1-B42F026CD4E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35202" y="3429000"/>
            <a:ext cx="7918532" cy="30463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77520427"/>
      </p:ext>
    </p:extLst>
  </p:cSld>
  <p:clrMapOvr>
    <a:masterClrMapping/>
  </p:clrMapOvr>
</p:sld>
</file>

<file path=ppt/theme/theme1.xml><?xml version="1.0" encoding="utf-8"?>
<a:theme xmlns:a="http://schemas.openxmlformats.org/drawingml/2006/main" name="Metropolitan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Metropolitan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Metropolitan">
      <a:fillStyleLst>
        <a:solidFill>
          <a:schemeClr val="phClr"/>
        </a:solidFill>
        <a:gradFill rotWithShape="1">
          <a:gsLst>
            <a:gs pos="0">
              <a:schemeClr val="phClr">
                <a:tint val="70000"/>
                <a:satMod val="100000"/>
                <a:lumMod val="110000"/>
              </a:schemeClr>
            </a:gs>
            <a:gs pos="50000">
              <a:schemeClr val="phClr">
                <a:tint val="75000"/>
                <a:satMod val="101000"/>
                <a:lumMod val="105000"/>
              </a:schemeClr>
            </a:gs>
            <a:gs pos="100000">
              <a:schemeClr val="phClr">
                <a:tint val="82000"/>
                <a:satMod val="104000"/>
                <a:lumMod val="105000"/>
              </a:schemeClr>
            </a:gs>
          </a:gsLst>
          <a:lin ang="2700000" scaled="0"/>
        </a:gradFill>
        <a:gradFill rotWithShape="1">
          <a:gsLst>
            <a:gs pos="0">
              <a:schemeClr val="phClr">
                <a:tint val="97000"/>
                <a:satMod val="100000"/>
                <a:lumMod val="102000"/>
              </a:schemeClr>
            </a:gs>
            <a:gs pos="50000">
              <a:schemeClr val="phClr">
                <a:shade val="100000"/>
                <a:satMod val="100000"/>
                <a:lumMod val="100000"/>
              </a:schemeClr>
            </a:gs>
            <a:gs pos="100000">
              <a:schemeClr val="phClr">
                <a:shade val="80000"/>
                <a:satMod val="100000"/>
                <a:lumMod val="99000"/>
              </a:schemeClr>
            </a:gs>
          </a:gsLst>
          <a:lin ang="27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solidFill>
          <a:schemeClr val="phClr">
            <a:shade val="95000"/>
            <a:satMod val="170000"/>
          </a:schemeClr>
        </a:soli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Metropolitan" id="{4C5440D6-04D2-4954-96CF-F251137069B2}" vid="{0941A018-FB9B-4401-A32C-7E04526866E0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Metropolitan</Template>
  <TotalTime>581</TotalTime>
  <Words>923</Words>
  <Application>Microsoft Office PowerPoint</Application>
  <PresentationFormat>Widescreen</PresentationFormat>
  <Paragraphs>130</Paragraphs>
  <Slides>18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 Light</vt:lpstr>
      <vt:lpstr>Metropolitan</vt:lpstr>
      <vt:lpstr>Stock Pitch</vt:lpstr>
      <vt:lpstr>Phoenix Portfolio Risk Is Highly Concentrated in High-Beta Tech Exposure</vt:lpstr>
      <vt:lpstr>Addressing Tech Concentration Through Thematic Diversification</vt:lpstr>
      <vt:lpstr>Initiate 5-8% Position in Cheniere Energy (LNG)</vt:lpstr>
      <vt:lpstr>Cheniere Energy Is the Leading U.S. LNG Export Infrastructure Operator</vt:lpstr>
      <vt:lpstr>Cheniere Energy Is the Leading U.S. LNG Export Infrastructure Operator</vt:lpstr>
      <vt:lpstr>Global LNG Supply Wave + European Rewiring = Structural Tailwind for U.S. Exporters</vt:lpstr>
      <vt:lpstr>Global LNG Supply Wave + European Rewiring = Structural Tailwind for U.S. Exporters</vt:lpstr>
      <vt:lpstr>Attractive Relative Valuation Within LNG &amp; Midstream Peers</vt:lpstr>
      <vt:lpstr>Attractive Relative Valuation Within LNG &amp; Midstream Peers</vt:lpstr>
      <vt:lpstr>DCF Valuation</vt:lpstr>
      <vt:lpstr>Strategic Diversification Through LNG: Low Correlation Unlocks Portfolio Resilience</vt:lpstr>
      <vt:lpstr>Target Prices &amp; Consensus</vt:lpstr>
      <vt:lpstr>Technical Analysis</vt:lpstr>
      <vt:lpstr>Initiate 5-8% Position in Cheniere Energy (LNG)</vt:lpstr>
      <vt:lpstr>Pros and Cons</vt:lpstr>
      <vt:lpstr>Appendix</vt:lpstr>
      <vt:lpstr>Financials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Alejandro Leiva Sanabria</dc:creator>
  <cp:lastModifiedBy>Alejandro Leiva Sanabria</cp:lastModifiedBy>
  <cp:revision>41</cp:revision>
  <dcterms:created xsi:type="dcterms:W3CDTF">2026-02-11T18:28:07Z</dcterms:created>
  <dcterms:modified xsi:type="dcterms:W3CDTF">2026-02-12T17:21:53Z</dcterms:modified>
</cp:coreProperties>
</file>