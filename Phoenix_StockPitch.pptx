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72" r:id="rId14"/>
    <p:sldId id="274" r:id="rId15"/>
    <p:sldId id="273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5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5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8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2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2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2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37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7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B5FD-9E30-DAD5-3D02-048E41ADB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Stock 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7196-FBE2-C9FE-C8BB-38FAAAA53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Phoenix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0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2D21-A785-474C-8EA6-D22B13887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>
            <a:normAutofit/>
          </a:bodyPr>
          <a:lstStyle/>
          <a:p>
            <a:r>
              <a:rPr lang="en-US" sz="3600" dirty="0"/>
              <a:t>Phoenix Portfolio Risk Is </a:t>
            </a:r>
            <a:r>
              <a:rPr lang="en-US" sz="3600" b="1" dirty="0"/>
              <a:t>Highly Concentrated in High-Beta Tech </a:t>
            </a:r>
            <a:r>
              <a:rPr lang="en-US" sz="3600" dirty="0"/>
              <a:t>Exposure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4ED0553-8A94-08E6-22C3-698716E1C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7981" y="1312453"/>
            <a:ext cx="9376038" cy="50050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8C4ED0-B457-E718-0FE6-7243F0FBA4F5}"/>
              </a:ext>
            </a:extLst>
          </p:cNvPr>
          <p:cNvSpPr txBox="1"/>
          <p:nvPr/>
        </p:nvSpPr>
        <p:spPr>
          <a:xfrm>
            <a:off x="709612" y="6425356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Prepared by the author using data from Yahoo Finance over the last 3 years.</a:t>
            </a:r>
          </a:p>
        </p:txBody>
      </p:sp>
    </p:spTree>
    <p:extLst>
      <p:ext uri="{BB962C8B-B14F-4D97-AF65-F5344CB8AC3E}">
        <p14:creationId xmlns:p14="http://schemas.microsoft.com/office/powerpoint/2010/main" val="329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5891-44E6-B401-2286-40BF2684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A4FB4181-E676-C08B-D060-A5031D696BCB}"/>
              </a:ext>
            </a:extLst>
          </p:cNvPr>
          <p:cNvSpPr/>
          <p:nvPr/>
        </p:nvSpPr>
        <p:spPr>
          <a:xfrm rot="16200000">
            <a:off x="1783028" y="1050722"/>
            <a:ext cx="448733" cy="284638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9DFC0-4A49-8979-BACA-521F18DBA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>
            <a:normAutofit/>
          </a:bodyPr>
          <a:lstStyle/>
          <a:p>
            <a:r>
              <a:rPr lang="en-US" sz="3600" dirty="0"/>
              <a:t>Addressing Tech Concentration Through Thematic Diversification</a:t>
            </a: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8B344D56-0E96-0A93-C691-B94E2405E69A}"/>
              </a:ext>
            </a:extLst>
          </p:cNvPr>
          <p:cNvSpPr/>
          <p:nvPr/>
        </p:nvSpPr>
        <p:spPr>
          <a:xfrm rot="16200000">
            <a:off x="5715795" y="369946"/>
            <a:ext cx="448733" cy="4207935"/>
          </a:xfrm>
          <a:prstGeom prst="flowChartOffpage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048A3-ED8D-843A-1843-071D50852F06}"/>
              </a:ext>
            </a:extLst>
          </p:cNvPr>
          <p:cNvSpPr txBox="1"/>
          <p:nvPr/>
        </p:nvSpPr>
        <p:spPr>
          <a:xfrm>
            <a:off x="650345" y="2282167"/>
            <a:ext cx="28463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 err="1"/>
              <a:t>Problem</a:t>
            </a:r>
            <a:r>
              <a:rPr lang="es-CR" b="1" dirty="0"/>
              <a:t> </a:t>
            </a:r>
            <a:r>
              <a:rPr lang="es-CR" b="1" dirty="0" err="1"/>
              <a:t>Identified</a:t>
            </a:r>
            <a:br>
              <a:rPr lang="es-CR" b="1" dirty="0"/>
            </a:br>
            <a:endParaRPr lang="es-C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5 holdings with beta &gt; 1.4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Concentrated</a:t>
            </a:r>
            <a:r>
              <a:rPr lang="es-CR" sz="1600" dirty="0"/>
              <a:t> </a:t>
            </a:r>
            <a:r>
              <a:rPr lang="es-CR" sz="1600" dirty="0" err="1"/>
              <a:t>tech</a:t>
            </a:r>
            <a:r>
              <a:rPr lang="es-CR" sz="1600" dirty="0"/>
              <a:t> </a:t>
            </a:r>
            <a:r>
              <a:rPr lang="es-CR" sz="1600" dirty="0" err="1"/>
              <a:t>volatility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Limited</a:t>
            </a:r>
            <a:r>
              <a:rPr lang="es-CR" sz="1600" dirty="0"/>
              <a:t> </a:t>
            </a:r>
            <a:r>
              <a:rPr lang="es-CR" sz="1600" dirty="0" err="1"/>
              <a:t>low</a:t>
            </a:r>
            <a:r>
              <a:rPr lang="es-CR" sz="1600" dirty="0"/>
              <a:t> beta </a:t>
            </a:r>
            <a:r>
              <a:rPr lang="es-CR" sz="1600" dirty="0" err="1"/>
              <a:t>exposure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39B4B6E3-1575-2702-CBB5-48B5B9896FB6}"/>
              </a:ext>
            </a:extLst>
          </p:cNvPr>
          <p:cNvSpPr/>
          <p:nvPr/>
        </p:nvSpPr>
        <p:spPr>
          <a:xfrm rot="16200000">
            <a:off x="9648562" y="1050720"/>
            <a:ext cx="448733" cy="2846389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365F6-9EE4-D23D-9903-0824637F850B}"/>
              </a:ext>
            </a:extLst>
          </p:cNvPr>
          <p:cNvSpPr txBox="1"/>
          <p:nvPr/>
        </p:nvSpPr>
        <p:spPr>
          <a:xfrm>
            <a:off x="3902339" y="2282167"/>
            <a:ext cx="414179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Macro Themes from 2026 Outlooks</a:t>
            </a:r>
            <a:endParaRPr lang="es-CR" b="1" dirty="0"/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/>
              <a:t>AI </a:t>
            </a:r>
            <a:r>
              <a:rPr lang="es-CR" sz="1600" dirty="0" err="1"/>
              <a:t>investment</a:t>
            </a:r>
            <a:r>
              <a:rPr lang="es-CR" sz="1600" dirty="0"/>
              <a:t> </a:t>
            </a:r>
            <a:r>
              <a:rPr lang="es-CR" sz="1600" dirty="0" err="1"/>
              <a:t>remains</a:t>
            </a:r>
            <a:r>
              <a:rPr lang="es-CR" sz="1600" dirty="0"/>
              <a:t> </a:t>
            </a:r>
            <a:r>
              <a:rPr lang="es-CR" sz="1600" dirty="0" err="1"/>
              <a:t>strong</a:t>
            </a:r>
            <a:r>
              <a:rPr lang="es-CR" sz="1600" dirty="0"/>
              <a:t>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b="1" dirty="0" err="1"/>
              <a:t>Infrastructure</a:t>
            </a:r>
            <a:r>
              <a:rPr lang="es-CR" sz="1600" b="1" dirty="0"/>
              <a:t> &amp; </a:t>
            </a:r>
            <a:r>
              <a:rPr lang="es-CR" sz="1600" b="1" dirty="0" err="1"/>
              <a:t>energy</a:t>
            </a:r>
            <a:r>
              <a:rPr lang="es-CR" sz="1600" b="1" dirty="0"/>
              <a:t> </a:t>
            </a:r>
            <a:r>
              <a:rPr lang="es-CR" sz="1600" b="1" dirty="0" err="1"/>
              <a:t>demand</a:t>
            </a:r>
            <a:r>
              <a:rPr lang="es-CR" sz="1600" b="1" dirty="0"/>
              <a:t> </a:t>
            </a:r>
            <a:r>
              <a:rPr lang="es-CR" sz="1600" b="1" dirty="0" err="1"/>
              <a:t>rising</a:t>
            </a:r>
            <a:r>
              <a:rPr lang="es-CR" sz="1600" b="1" dirty="0"/>
              <a:t> </a:t>
            </a:r>
            <a:r>
              <a:rPr lang="es-CR" sz="1600" dirty="0"/>
              <a:t>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Power</a:t>
            </a:r>
            <a:r>
              <a:rPr lang="es-CR" sz="1600" dirty="0"/>
              <a:t> </a:t>
            </a:r>
            <a:r>
              <a:rPr lang="es-CR" sz="1600" dirty="0" err="1"/>
              <a:t>availability</a:t>
            </a:r>
            <a:r>
              <a:rPr lang="es-CR" sz="1600" dirty="0"/>
              <a:t> </a:t>
            </a:r>
            <a:r>
              <a:rPr lang="es-CR" sz="1600" dirty="0" err="1"/>
              <a:t>is</a:t>
            </a:r>
            <a:r>
              <a:rPr lang="es-CR" sz="1600" dirty="0"/>
              <a:t> AI </a:t>
            </a:r>
            <a:r>
              <a:rPr lang="es-CR" sz="1600" dirty="0" err="1"/>
              <a:t>bottleneck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/>
              <a:t>U.S. </a:t>
            </a:r>
            <a:r>
              <a:rPr lang="es-CR" sz="1600" b="1" dirty="0"/>
              <a:t>natural gas</a:t>
            </a:r>
            <a:r>
              <a:rPr lang="es-CR" sz="1600" dirty="0"/>
              <a:t> </a:t>
            </a:r>
            <a:r>
              <a:rPr lang="es-CR" sz="1600" dirty="0" err="1"/>
              <a:t>pivotal</a:t>
            </a:r>
            <a:r>
              <a:rPr lang="es-CR" sz="1600" dirty="0"/>
              <a:t> </a:t>
            </a:r>
            <a:r>
              <a:rPr lang="es-CR" sz="1600" dirty="0" err="1"/>
              <a:t>globally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b="1" dirty="0" err="1"/>
              <a:t>Infrastructure</a:t>
            </a:r>
            <a:r>
              <a:rPr lang="es-CR" sz="1600" dirty="0"/>
              <a:t> </a:t>
            </a:r>
            <a:r>
              <a:rPr lang="es-CR" sz="1600" dirty="0" err="1"/>
              <a:t>build</a:t>
            </a:r>
            <a:r>
              <a:rPr lang="es-CR" sz="1600" dirty="0"/>
              <a:t> </a:t>
            </a:r>
            <a:r>
              <a:rPr lang="es-CR" sz="1600" dirty="0" err="1"/>
              <a:t>out</a:t>
            </a:r>
            <a:r>
              <a:rPr lang="es-CR" sz="1600" dirty="0"/>
              <a:t> </a:t>
            </a:r>
            <a:r>
              <a:rPr lang="es-CR" sz="1600" dirty="0" err="1"/>
              <a:t>accelerating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887C1-A1F1-2FC9-0ED3-938F8858D0C6}"/>
              </a:ext>
            </a:extLst>
          </p:cNvPr>
          <p:cNvSpPr txBox="1"/>
          <p:nvPr/>
        </p:nvSpPr>
        <p:spPr>
          <a:xfrm>
            <a:off x="709612" y="6289889"/>
            <a:ext cx="106695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(1) </a:t>
            </a:r>
            <a:r>
              <a:rPr lang="en-US" sz="1050" dirty="0"/>
              <a:t>J.P. Morgan Asset Management. 2026 Year-Ahead Investment Outlook: AI Lift and Economic Drift. November 2025</a:t>
            </a:r>
            <a:r>
              <a:rPr lang="es-CR" sz="1050" dirty="0"/>
              <a:t>. (2): </a:t>
            </a:r>
            <a:r>
              <a:rPr lang="en-US" sz="1050" dirty="0"/>
              <a:t>BlackRock iShares. 2026 Thematic Outlook: Charting the Themes Impacting Markets. January 2026.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7C5A0-CF65-50B0-4961-7D3A1B649C39}"/>
              </a:ext>
            </a:extLst>
          </p:cNvPr>
          <p:cNvSpPr txBox="1"/>
          <p:nvPr/>
        </p:nvSpPr>
        <p:spPr>
          <a:xfrm>
            <a:off x="8449734" y="2282167"/>
            <a:ext cx="31580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 err="1">
                <a:solidFill>
                  <a:schemeClr val="bg1"/>
                </a:solidFill>
              </a:rPr>
              <a:t>Selection</a:t>
            </a:r>
            <a:r>
              <a:rPr lang="es-CR" b="1" dirty="0">
                <a:solidFill>
                  <a:schemeClr val="bg1"/>
                </a:solidFill>
              </a:rPr>
              <a:t> </a:t>
            </a:r>
            <a:r>
              <a:rPr lang="es-CR" b="1" dirty="0" err="1">
                <a:solidFill>
                  <a:schemeClr val="bg1"/>
                </a:solidFill>
              </a:rPr>
              <a:t>Filters</a:t>
            </a:r>
            <a:endParaRPr lang="es-CR" b="1" dirty="0">
              <a:solidFill>
                <a:schemeClr val="bg1"/>
              </a:solidFill>
            </a:endParaRPr>
          </a:p>
          <a:p>
            <a:endParaRPr lang="es-C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Beta &lt;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correlation to 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Exposure to power / energy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Catalyst within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Reasonable 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CA4B4-9C03-54C2-3004-79F9376171A4}"/>
              </a:ext>
            </a:extLst>
          </p:cNvPr>
          <p:cNvSpPr txBox="1"/>
          <p:nvPr/>
        </p:nvSpPr>
        <p:spPr>
          <a:xfrm>
            <a:off x="1119190" y="5132414"/>
            <a:ext cx="10176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consistent themes across outlooks were </a:t>
            </a:r>
            <a:r>
              <a:rPr lang="en-US" b="1" dirty="0"/>
              <a:t>energy infrastructure, power generation, and natural gas</a:t>
            </a:r>
          </a:p>
        </p:txBody>
      </p:sp>
    </p:spTree>
    <p:extLst>
      <p:ext uri="{BB962C8B-B14F-4D97-AF65-F5344CB8AC3E}">
        <p14:creationId xmlns:p14="http://schemas.microsoft.com/office/powerpoint/2010/main" val="343237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1F2C-99AD-B2DF-6151-33E9A3D7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F189-4EB1-0334-E861-9D0AFE8E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Initiate 5-8% Position in Cheniere Energy (LNG)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9ADE4-99E1-05A8-9845-4575CD5EA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26" y="1419274"/>
            <a:ext cx="9438746" cy="4670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D1003-AE59-0F5D-C804-D01B6E06FFF1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; Yahoo Finance; </a:t>
            </a:r>
            <a:r>
              <a:rPr lang="en-US" sz="1050" dirty="0" err="1"/>
              <a:t>TipRanks</a:t>
            </a:r>
            <a:r>
              <a:rPr lang="en-US" sz="1050" dirty="0"/>
              <a:t> analyst consensus data (Feb 2026).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3AE542-1DD8-FD65-5552-F1A3A353A5AB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Structural LNG Infrastructure Exposure to Improve Portfolio Risk-Adjusted Returns</a:t>
            </a:r>
          </a:p>
        </p:txBody>
      </p:sp>
      <p:pic>
        <p:nvPicPr>
          <p:cNvPr id="3074" name="Picture 2" descr="Investor Relations :: Cheniere Energy, Inc. (LNG)">
            <a:extLst>
              <a:ext uri="{FF2B5EF4-FFF2-40B4-BE49-F238E27FC236}">
                <a16:creationId xmlns:a16="http://schemas.microsoft.com/office/drawing/2014/main" id="{10F3B9EA-67BD-7F8B-5E85-A712376B8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167" y="5078300"/>
            <a:ext cx="1257300" cy="36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80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D0B4-E53D-8005-EB86-04E8B269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0EBC8A-DF32-2F74-0ACD-B2C7BE6DAB9F}"/>
              </a:ext>
            </a:extLst>
          </p:cNvPr>
          <p:cNvSpPr/>
          <p:nvPr/>
        </p:nvSpPr>
        <p:spPr>
          <a:xfrm>
            <a:off x="6095999" y="3520040"/>
            <a:ext cx="5054602" cy="19727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A69608-C1A7-AF03-738C-8A34A569AB28}"/>
              </a:ext>
            </a:extLst>
          </p:cNvPr>
          <p:cNvSpPr/>
          <p:nvPr/>
        </p:nvSpPr>
        <p:spPr>
          <a:xfrm>
            <a:off x="524933" y="3520041"/>
            <a:ext cx="5054602" cy="19727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F550B-FAFC-EE5F-25CB-A3919444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Cheniere Energy Is the Leading U.S. LNG Export Infrastructure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70182-0030-BA95-0096-602D50CF4737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Press Search, Cheniere Investor Relations 10Q Forms.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AAED23-8C9D-3AFB-6479-18A0535BB3F2}"/>
              </a:ext>
            </a:extLst>
          </p:cNvPr>
          <p:cNvSpPr/>
          <p:nvPr/>
        </p:nvSpPr>
        <p:spPr>
          <a:xfrm>
            <a:off x="524933" y="1295400"/>
            <a:ext cx="5054602" cy="19727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B23C0E-91E7-E234-5809-7F92A1B30CD0}"/>
              </a:ext>
            </a:extLst>
          </p:cNvPr>
          <p:cNvSpPr/>
          <p:nvPr/>
        </p:nvSpPr>
        <p:spPr>
          <a:xfrm>
            <a:off x="6044405" y="1295399"/>
            <a:ext cx="5054602" cy="19727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6364D3-5BA7-9995-15F2-254A86CB275C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It owns large industrial terminals that liquefy natural gas in the U.S. and ship it to utilities and energy companies worldwide under long-term contracts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E9768-32D7-88AA-62A5-CD972E3F4CC6}"/>
              </a:ext>
            </a:extLst>
          </p:cNvPr>
          <p:cNvSpPr txBox="1"/>
          <p:nvPr/>
        </p:nvSpPr>
        <p:spPr>
          <a:xfrm>
            <a:off x="804334" y="1432446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/>
              <a:t>What</a:t>
            </a:r>
            <a:r>
              <a:rPr lang="es-CR" sz="1600" b="1" dirty="0"/>
              <a:t> do </a:t>
            </a:r>
            <a:r>
              <a:rPr lang="es-CR" sz="1600" b="1" dirty="0" err="1"/>
              <a:t>they</a:t>
            </a:r>
            <a:r>
              <a:rPr lang="es-CR" sz="1600" b="1" dirty="0"/>
              <a:t> do?</a:t>
            </a:r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Buy natural gas in the U.S. (priced at Henry Hub)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Cool it to -162°C to turn it into liquid (LNG)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 it onto specialized 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Export it to Europe and Asia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009A4-ED72-952A-7CC9-9168A0BE1400}"/>
              </a:ext>
            </a:extLst>
          </p:cNvPr>
          <p:cNvSpPr txBox="1"/>
          <p:nvPr/>
        </p:nvSpPr>
        <p:spPr>
          <a:xfrm>
            <a:off x="6256867" y="1432446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/>
              <a:t>How</a:t>
            </a:r>
            <a:r>
              <a:rPr lang="es-CR" sz="1600" b="1" dirty="0"/>
              <a:t> </a:t>
            </a:r>
            <a:r>
              <a:rPr lang="es-CR" sz="1600" b="1" dirty="0" err="1"/>
              <a:t>they</a:t>
            </a:r>
            <a:r>
              <a:rPr lang="es-CR" sz="1600" b="1" dirty="0"/>
              <a:t> </a:t>
            </a:r>
            <a:r>
              <a:rPr lang="es-CR" sz="1600" b="1" dirty="0" err="1"/>
              <a:t>make</a:t>
            </a:r>
            <a:r>
              <a:rPr lang="es-CR" sz="1600" b="1" dirty="0"/>
              <a:t> </a:t>
            </a:r>
            <a:r>
              <a:rPr lang="es-CR" sz="1600" b="1" dirty="0" err="1"/>
              <a:t>money</a:t>
            </a:r>
            <a:r>
              <a:rPr lang="es-CR" sz="1600" b="1" dirty="0"/>
              <a:t>?</a:t>
            </a:r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Long-term 15-20 year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“Take or pay”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pay fixed liquefaction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dependence on short-term gas price moves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30C65-8AFB-3F47-5E5B-E31F884DAF8D}"/>
              </a:ext>
            </a:extLst>
          </p:cNvPr>
          <p:cNvSpPr txBox="1"/>
          <p:nvPr/>
        </p:nvSpPr>
        <p:spPr>
          <a:xfrm>
            <a:off x="804334" y="3676892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>
                <a:solidFill>
                  <a:schemeClr val="bg1"/>
                </a:solidFill>
              </a:rPr>
              <a:t>Who </a:t>
            </a:r>
            <a:r>
              <a:rPr lang="es-CR" sz="1600" b="1" dirty="0" err="1">
                <a:solidFill>
                  <a:schemeClr val="bg1"/>
                </a:solidFill>
              </a:rPr>
              <a:t>they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sell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to</a:t>
            </a:r>
            <a:r>
              <a:rPr lang="es-CR" sz="1600" b="1" dirty="0">
                <a:solidFill>
                  <a:schemeClr val="bg1"/>
                </a:solidFill>
              </a:rPr>
              <a:t>?</a:t>
            </a:r>
          </a:p>
          <a:p>
            <a:endParaRPr lang="es-C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European utilities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Asian utilities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Energy majors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National oil companies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40869-8DA4-F24B-9C13-61B3AF3AF1A2}"/>
              </a:ext>
            </a:extLst>
          </p:cNvPr>
          <p:cNvSpPr txBox="1"/>
          <p:nvPr/>
        </p:nvSpPr>
        <p:spPr>
          <a:xfrm>
            <a:off x="6256867" y="3676892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>
                <a:solidFill>
                  <a:schemeClr val="bg1"/>
                </a:solidFill>
              </a:rPr>
              <a:t>Why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They’re</a:t>
            </a:r>
            <a:r>
              <a:rPr lang="es-CR" sz="1600" b="1" dirty="0">
                <a:solidFill>
                  <a:schemeClr val="bg1"/>
                </a:solidFill>
              </a:rPr>
              <a:t> a Leader?</a:t>
            </a:r>
          </a:p>
          <a:p>
            <a:endParaRPr lang="es-C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Largest U.S. LNG exporter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Hard to replicate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Ongoing capacity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Long-term contracts already signed (reputation)</a:t>
            </a:r>
          </a:p>
        </p:txBody>
      </p:sp>
    </p:spTree>
    <p:extLst>
      <p:ext uri="{BB962C8B-B14F-4D97-AF65-F5344CB8AC3E}">
        <p14:creationId xmlns:p14="http://schemas.microsoft.com/office/powerpoint/2010/main" val="177150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323-9BB6-C832-AC21-C05829DA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E99D-CC41-F65C-CB11-8C8E8D14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Cheniere Energy Is the Leading U.S. LNG Export Infrastructure Operator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F81479-0BFF-D25E-A386-570C435EAA7A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It owns large industrial terminals that liquefy natural gas in the U.S. and ship it to utilities and energy companies worldwide under long-term contracts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12506-1A90-EF8E-CCA0-3C7529E2F085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Press Search, Cheniere Investor Relations 10Q Forms.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88875B-FF00-6474-9098-E8D772B43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8" y="1574468"/>
            <a:ext cx="7149997" cy="41963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C4C299-E601-B9BA-BF13-F2BB4EF02EEC}"/>
              </a:ext>
            </a:extLst>
          </p:cNvPr>
          <p:cNvSpPr txBox="1"/>
          <p:nvPr/>
        </p:nvSpPr>
        <p:spPr>
          <a:xfrm>
            <a:off x="7766475" y="1733770"/>
            <a:ext cx="4141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Revenue Exposure: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LNG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contracted volumes</a:t>
            </a:r>
          </a:p>
          <a:p>
            <a:endParaRPr lang="en-US" b="1" dirty="0"/>
          </a:p>
          <a:p>
            <a:r>
              <a:rPr lang="en-US" b="1" dirty="0"/>
              <a:t>Cost Exposure: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Henry Hub gas price</a:t>
            </a:r>
          </a:p>
          <a:p>
            <a:endParaRPr lang="en-US" dirty="0"/>
          </a:p>
          <a:p>
            <a:r>
              <a:rPr lang="en-US" b="1" dirty="0"/>
              <a:t>Stability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15-20 year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95% contracted capacity until 2030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Large-scale infrastructure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6514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0A35-5488-4BC1-9404-DD3CEB88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90A5-ACFB-8E76-16EF-76442CFD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Global LNG Supply Wave + European Rewiring = Structural Tailwind for U.S. Exporters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EE76D3-9BA2-EA80-5C7A-DC255A81CD01}"/>
              </a:ext>
            </a:extLst>
          </p:cNvPr>
          <p:cNvSpPr txBox="1">
            <a:spLocks/>
          </p:cNvSpPr>
          <p:nvPr/>
        </p:nvSpPr>
        <p:spPr>
          <a:xfrm>
            <a:off x="709612" y="92701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EIA projects accelerating LNG supply growth in 2026 while Europe permanently reshapes its gas sourcing away from Russia.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321DA-37B5-833F-3866-ABF4E980072B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U.S. Energy Information Administration (EIA), Gas Market Report, Q1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FAAED-87E3-C2D1-AADC-DE866ACD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11009"/>
            <a:ext cx="7890933" cy="44865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18454B9-3FB5-CDDB-C184-C63D3CECC1DA}"/>
              </a:ext>
            </a:extLst>
          </p:cNvPr>
          <p:cNvSpPr/>
          <p:nvPr/>
        </p:nvSpPr>
        <p:spPr>
          <a:xfrm>
            <a:off x="7907865" y="2658852"/>
            <a:ext cx="1159934" cy="965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4A7912-1FB5-4DC7-EAAF-A7B9D76B92E1}"/>
              </a:ext>
            </a:extLst>
          </p:cNvPr>
          <p:cNvSpPr/>
          <p:nvPr/>
        </p:nvSpPr>
        <p:spPr>
          <a:xfrm>
            <a:off x="1729133" y="2402648"/>
            <a:ext cx="1266616" cy="10263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983CC-C9AB-0DE9-DCF9-3CD30F83AE37}"/>
              </a:ext>
            </a:extLst>
          </p:cNvPr>
          <p:cNvSpPr txBox="1"/>
          <p:nvPr/>
        </p:nvSpPr>
        <p:spPr>
          <a:xfrm>
            <a:off x="9245599" y="2850375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Largest LNG supply build out since 2019 (per EIA)</a:t>
            </a:r>
          </a:p>
        </p:txBody>
      </p:sp>
    </p:spTree>
    <p:extLst>
      <p:ext uri="{BB962C8B-B14F-4D97-AF65-F5344CB8AC3E}">
        <p14:creationId xmlns:p14="http://schemas.microsoft.com/office/powerpoint/2010/main" val="396431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75E9-CF50-A5F5-E3E6-DDE21EF3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6904-E999-BC65-AEE4-0678630D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Global LNG Supply Wave + European Rewiring = Structural Tailwind for U.S. Exporters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4CB631-4293-79FA-214B-363DF673D821}"/>
              </a:ext>
            </a:extLst>
          </p:cNvPr>
          <p:cNvSpPr txBox="1">
            <a:spLocks/>
          </p:cNvSpPr>
          <p:nvPr/>
        </p:nvSpPr>
        <p:spPr>
          <a:xfrm>
            <a:off x="709612" y="92701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EIA projects accelerating LNG supply growth in 2026 while Europe permanently reshapes its gas sourcing away from Russia.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4CF90-0F9A-3749-4BFF-0D56A1FCEFA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U.S. Energy Information Administration (EIA), Gas Market Report, Q1 2026.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3B5E15-5E52-FE99-5F60-67086DA8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744155"/>
            <a:ext cx="8400250" cy="4186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0BDCFA-4EF2-BDB9-E118-CE142B997597}"/>
              </a:ext>
            </a:extLst>
          </p:cNvPr>
          <p:cNvSpPr txBox="1"/>
          <p:nvPr/>
        </p:nvSpPr>
        <p:spPr>
          <a:xfrm>
            <a:off x="9194798" y="2850375"/>
            <a:ext cx="2743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Europe is structurally removing Russian gas.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That supply gap must be filled. U.S. LNG is the primary marginal supplier</a:t>
            </a:r>
          </a:p>
        </p:txBody>
      </p:sp>
    </p:spTree>
    <p:extLst>
      <p:ext uri="{BB962C8B-B14F-4D97-AF65-F5344CB8AC3E}">
        <p14:creationId xmlns:p14="http://schemas.microsoft.com/office/powerpoint/2010/main" val="121497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7DA7-F3D9-4790-2A75-AC65697D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5F15-DDF8-D354-2B0B-DFEA2F35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82C569-D936-18DC-96ED-1689499C0AD5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D51F6-2294-8488-9107-BC71ABC87666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95903A-C7E4-087D-D545-6710807FE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4" t="29369" r="30486" b="29239"/>
          <a:stretch>
            <a:fillRect/>
          </a:stretch>
        </p:blipFill>
        <p:spPr>
          <a:xfrm>
            <a:off x="1600199" y="1651000"/>
            <a:ext cx="8686801" cy="39315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E2E30EF-F1E7-C4B1-0EC4-CC296199D4FF}"/>
              </a:ext>
            </a:extLst>
          </p:cNvPr>
          <p:cNvSpPr/>
          <p:nvPr/>
        </p:nvSpPr>
        <p:spPr>
          <a:xfrm>
            <a:off x="1600199" y="2413000"/>
            <a:ext cx="8585201" cy="3556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9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190D-635A-3EE0-E360-5ABCEB1D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BBCC-1800-4D5D-71D6-AEC81558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25A709-17CA-11E9-AFC6-794134FE91C5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4B6E6-21E5-7571-7E9A-6AF5712AF00F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BDABB4B-6A49-ADD8-EA0F-6F39EA72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6079" y="1377595"/>
            <a:ext cx="9340322" cy="463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5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CC9B-B87B-420C-88B5-472CF200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6FBB2B-E2CD-B984-C1BD-E1233CE38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6"/>
          <a:stretch>
            <a:fillRect/>
          </a:stretch>
        </p:blipFill>
        <p:spPr>
          <a:xfrm>
            <a:off x="1410034" y="1222475"/>
            <a:ext cx="9371932" cy="5168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7F04C5-D71F-6631-4FA6-7E15A1B80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7" r="75207" b="84551"/>
          <a:stretch>
            <a:fillRect/>
          </a:stretch>
        </p:blipFill>
        <p:spPr>
          <a:xfrm>
            <a:off x="9765966" y="221575"/>
            <a:ext cx="2031999" cy="848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E9DEDB-3EAB-E4BF-FE1B-3F9D7627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D</a:t>
            </a:r>
            <a:r>
              <a:rPr lang="en-US" sz="3600" dirty="0"/>
              <a:t>CF Valuation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46A5D0-E3B3-5881-6429-7BD1DA1BEC08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Even assuming margin normalization and a modest exit multiple, intrinsic value remains near current levels.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97020-C793-60D4-1051-A611624CC743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Factset</a:t>
            </a:r>
            <a:r>
              <a:rPr lang="en-US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57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9C15-E268-43B1-8BA2-6F7C1342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3043-2DCA-1BFF-EDFF-15637776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Strategic Diversification Through LNG: Low Correlation Unlocks Portfolio Resilience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CD770F-AFAD-C450-8452-B75329FC22C0}"/>
              </a:ext>
            </a:extLst>
          </p:cNvPr>
          <p:cNvSpPr txBox="1">
            <a:spLocks/>
          </p:cNvSpPr>
          <p:nvPr/>
        </p:nvSpPr>
        <p:spPr>
          <a:xfrm>
            <a:off x="709611" y="833429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LNG demonstrates independence from traditional tech and industrial holdings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75E8B-A254-822F-7E25-48D087DACB7D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84480-1A9B-F31F-6AEA-BD7026719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55" y="1621602"/>
            <a:ext cx="5421352" cy="4059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8CE3CC-A0A6-FD00-9F62-A7CAC2840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97"/>
          <a:stretch>
            <a:fillRect/>
          </a:stretch>
        </p:blipFill>
        <p:spPr>
          <a:xfrm>
            <a:off x="1035804" y="1623926"/>
            <a:ext cx="4911742" cy="40576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53B205-C75D-D662-7449-C7305D956CD6}"/>
              </a:ext>
            </a:extLst>
          </p:cNvPr>
          <p:cNvSpPr/>
          <p:nvPr/>
        </p:nvSpPr>
        <p:spPr>
          <a:xfrm>
            <a:off x="965199" y="3429000"/>
            <a:ext cx="10517187" cy="3386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9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EF3A-F17F-AB89-E37D-6F7A1461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6AFF-67BA-4108-674F-BC78B614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Target </a:t>
            </a:r>
            <a:r>
              <a:rPr lang="es-CR" sz="3600" dirty="0" err="1"/>
              <a:t>Prices</a:t>
            </a:r>
            <a:r>
              <a:rPr lang="es-CR" sz="3600" dirty="0"/>
              <a:t> &amp; </a:t>
            </a:r>
            <a:r>
              <a:rPr lang="es-CR" sz="3600" dirty="0" err="1"/>
              <a:t>Consensus</a:t>
            </a:r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477145-9A4F-53FB-81D2-75328C9393EC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Analyst Consensus Points to Strong Upside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7704D-98E0-C8AA-7FC4-5ECE08C0238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Factset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E18CF-8934-27DC-1623-68662016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32" y="1218604"/>
            <a:ext cx="8705322" cy="23176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6E7B5-BD16-ECD4-6935-6A38357CC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53" y="3580873"/>
            <a:ext cx="8090681" cy="28688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A068CD-ED39-4289-32D6-B4AB6B058882}"/>
              </a:ext>
            </a:extLst>
          </p:cNvPr>
          <p:cNvSpPr/>
          <p:nvPr/>
        </p:nvSpPr>
        <p:spPr>
          <a:xfrm>
            <a:off x="9084733" y="3536208"/>
            <a:ext cx="1574800" cy="30075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4696A-3570-4D99-D008-3D4CD3D0FB7E}"/>
              </a:ext>
            </a:extLst>
          </p:cNvPr>
          <p:cNvSpPr txBox="1"/>
          <p:nvPr/>
        </p:nvSpPr>
        <p:spPr>
          <a:xfrm>
            <a:off x="10220853" y="3137126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AVG: </a:t>
            </a:r>
            <a:r>
              <a:rPr lang="en-US" dirty="0">
                <a:solidFill>
                  <a:srgbClr val="FF0000"/>
                </a:solidFill>
              </a:rPr>
              <a:t>21.1%</a:t>
            </a:r>
          </a:p>
        </p:txBody>
      </p:sp>
    </p:spTree>
    <p:extLst>
      <p:ext uri="{BB962C8B-B14F-4D97-AF65-F5344CB8AC3E}">
        <p14:creationId xmlns:p14="http://schemas.microsoft.com/office/powerpoint/2010/main" val="652268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51A7-7E7D-E523-C456-697E3562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D207-9B89-F29D-FDD0-E6BB84A0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 err="1"/>
              <a:t>Technical</a:t>
            </a:r>
            <a:r>
              <a:rPr lang="es-CR" sz="3600" dirty="0"/>
              <a:t> </a:t>
            </a:r>
            <a:r>
              <a:rPr lang="es-CR" sz="3600" dirty="0" err="1"/>
              <a:t>Analysis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63211-AB32-81F3-5081-DE73157566DB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07535-134F-C41C-FE4A-C80101816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12" y="1176876"/>
            <a:ext cx="11043886" cy="450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58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A2D6-51F4-EBB7-572A-6BB0AB42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DC72-8ADB-43CA-56D0-2FAEF2CA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Initiate 5-8% Position in Cheniere Energy (LNG)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35F9F-5A03-3087-83D5-E9226CD87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26" y="1419274"/>
            <a:ext cx="9438746" cy="4670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1D3789-7B7E-1FD7-1A32-EDCF7E8436C9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; Yahoo Finance; </a:t>
            </a:r>
            <a:r>
              <a:rPr lang="en-US" sz="1050" dirty="0" err="1"/>
              <a:t>TipRanks</a:t>
            </a:r>
            <a:r>
              <a:rPr lang="en-US" sz="1050" dirty="0"/>
              <a:t> analyst consensus data (Feb 2026).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DA3ED3-E46B-DDE4-E273-C9ABCC87C7DF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Structural LNG Infrastructure Exposure to Improve Portfolio Risk-Adjusted Returns</a:t>
            </a:r>
          </a:p>
        </p:txBody>
      </p:sp>
      <p:pic>
        <p:nvPicPr>
          <p:cNvPr id="3074" name="Picture 2" descr="Investor Relations :: Cheniere Energy, Inc. (LNG)">
            <a:extLst>
              <a:ext uri="{FF2B5EF4-FFF2-40B4-BE49-F238E27FC236}">
                <a16:creationId xmlns:a16="http://schemas.microsoft.com/office/drawing/2014/main" id="{8C03EFE6-301D-034A-A8D9-30F499BD6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167" y="5078300"/>
            <a:ext cx="1257300" cy="36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4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1CF2-7B83-2891-1978-2CE9F7DB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272E-1DC1-E756-9DB8-FEB7C445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Pros and </a:t>
            </a:r>
            <a:r>
              <a:rPr lang="es-CR" sz="3600" dirty="0" err="1"/>
              <a:t>Cons</a:t>
            </a:r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6E587E-A5F9-E7BF-8402-F5BC35AD3F31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00" dirty="0"/>
              <a:t>Cheniere: Contracted Infrastructure Model with Commodity &amp; Execution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607B8-6BD5-0846-7921-A3FEFD0ACEC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6105F-D008-6160-DCE7-6BB36FE72050}"/>
              </a:ext>
            </a:extLst>
          </p:cNvPr>
          <p:cNvSpPr txBox="1"/>
          <p:nvPr/>
        </p:nvSpPr>
        <p:spPr>
          <a:xfrm>
            <a:off x="1001609" y="1173939"/>
            <a:ext cx="43069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Pros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400" b="1" dirty="0"/>
              <a:t>Long-Term Contracted 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~95% of LNG production capacity contracted into mid-2030s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revenue visibility</a:t>
            </a:r>
          </a:p>
          <a:p>
            <a:br>
              <a:rPr lang="en-US" sz="1400" b="1" dirty="0"/>
            </a:br>
            <a:r>
              <a:rPr lang="en-US" sz="1400" b="1" dirty="0"/>
              <a:t>Scale &amp; Market Leadership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Largest U.S. LNG exporter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Second-largest globally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Competitive moat</a:t>
            </a:r>
          </a:p>
          <a:p>
            <a:br>
              <a:rPr lang="en-US" sz="1400" b="1" dirty="0"/>
            </a:br>
            <a:r>
              <a:rPr lang="en-US" sz="1400" b="1" dirty="0"/>
              <a:t>Infrastructure Barriers to Entry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Liquefaction terminals 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Multi-year construction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Billions in capital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Regulatory approval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Strong Operating Cash Flow Supports: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Debt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Buybacks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Dividends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C1AFA-01A2-D86C-BBE2-63D75AC1C4F2}"/>
              </a:ext>
            </a:extLst>
          </p:cNvPr>
          <p:cNvSpPr txBox="1"/>
          <p:nvPr/>
        </p:nvSpPr>
        <p:spPr>
          <a:xfrm>
            <a:off x="6555742" y="1173939"/>
            <a:ext cx="430699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Cons</a:t>
            </a:r>
            <a:br>
              <a:rPr lang="en-US" sz="1600" b="1" dirty="0"/>
            </a:b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Profitability </a:t>
            </a:r>
            <a:r>
              <a:rPr lang="en-US" sz="1600" b="1" dirty="0"/>
              <a:t>exposed</a:t>
            </a:r>
            <a:r>
              <a:rPr lang="en-US" sz="1600" dirty="0"/>
              <a:t> to compression in the spread between </a:t>
            </a:r>
            <a:r>
              <a:rPr lang="en-US" sz="1600" b="1" dirty="0"/>
              <a:t>U.S. natural gas prices and global LNG pricing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capital intensity and leverage increase </a:t>
            </a:r>
            <a:r>
              <a:rPr lang="en-US" sz="1600" b="1" dirty="0"/>
              <a:t>sensitivity to interest rates</a:t>
            </a:r>
            <a:r>
              <a:rPr lang="en-US" sz="1600" dirty="0"/>
              <a:t> and refinancing conditions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Execution risk related to Corpus Christi Stage 3 expansion and future capacity additions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Regulatory and export policy risk given U.S. LNG approvals are subject to federal oversight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Global economic slowdown could reduce LNG demand and pressure export volumes</a:t>
            </a:r>
          </a:p>
        </p:txBody>
      </p:sp>
    </p:spTree>
    <p:extLst>
      <p:ext uri="{BB962C8B-B14F-4D97-AF65-F5344CB8AC3E}">
        <p14:creationId xmlns:p14="http://schemas.microsoft.com/office/powerpoint/2010/main" val="2934304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7E3D-34CB-2303-9CCD-09D47A3F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1926-C78E-4DB2-FEBA-FCC4A69A1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 err="1"/>
              <a:t>Appendix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9FBD3-D176-A23A-F170-E748A7F511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Phoenix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E196-5C18-C95D-EA00-0299A6CA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F58A-8C66-FDC8-750D-358B0739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Financials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4A55C-3C2A-AD87-ADA1-30D2F3D5AD36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TipRanks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3FA33-94A7-FC2A-BC0F-375717ED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898163"/>
            <a:ext cx="7958667" cy="2392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5B1965-6FC0-F226-BDD1-B42F026C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2" y="3429000"/>
            <a:ext cx="7918532" cy="304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2042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562</TotalTime>
  <Words>923</Words>
  <Application>Microsoft Office PowerPoint</Application>
  <PresentationFormat>Widescreen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 Light</vt:lpstr>
      <vt:lpstr>Metropolitan</vt:lpstr>
      <vt:lpstr>Stock Pitch</vt:lpstr>
      <vt:lpstr>Phoenix Portfolio Risk Is Highly Concentrated in High-Beta Tech Exposure</vt:lpstr>
      <vt:lpstr>Addressing Tech Concentration Through Thematic Diversification</vt:lpstr>
      <vt:lpstr>Initiate 5-8% Position in Cheniere Energy (LNG)</vt:lpstr>
      <vt:lpstr>Cheniere Energy Is the Leading U.S. LNG Export Infrastructure Operator</vt:lpstr>
      <vt:lpstr>Cheniere Energy Is the Leading U.S. LNG Export Infrastructure Operator</vt:lpstr>
      <vt:lpstr>Global LNG Supply Wave + European Rewiring = Structural Tailwind for U.S. Exporters</vt:lpstr>
      <vt:lpstr>Global LNG Supply Wave + European Rewiring = Structural Tailwind for U.S. Exporters</vt:lpstr>
      <vt:lpstr>Attractive Relative Valuation Within LNG &amp; Midstream Peers</vt:lpstr>
      <vt:lpstr>Attractive Relative Valuation Within LNG &amp; Midstream Peers</vt:lpstr>
      <vt:lpstr>DCF Valuation</vt:lpstr>
      <vt:lpstr>Strategic Diversification Through LNG: Low Correlation Unlocks Portfolio Resilience</vt:lpstr>
      <vt:lpstr>Target Prices &amp; Consensus</vt:lpstr>
      <vt:lpstr>Technical Analysis</vt:lpstr>
      <vt:lpstr>Initiate 5-8% Position in Cheniere Energy (LNG)</vt:lpstr>
      <vt:lpstr>Pros and Cons</vt:lpstr>
      <vt:lpstr>Appendix</vt:lpstr>
      <vt:lpstr>Financials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Leiva Sanabria</dc:creator>
  <cp:lastModifiedBy>Alejandro Leiva Sanabria</cp:lastModifiedBy>
  <cp:revision>41</cp:revision>
  <dcterms:created xsi:type="dcterms:W3CDTF">2026-02-11T18:28:07Z</dcterms:created>
  <dcterms:modified xsi:type="dcterms:W3CDTF">2026-02-12T17:02:50Z</dcterms:modified>
</cp:coreProperties>
</file>