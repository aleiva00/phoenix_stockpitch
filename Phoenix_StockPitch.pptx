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10"/>
    <p:sldId id="265" r:id="rId11"/>
    <p:sldId id="266" r:id="rId12"/>
    <p:sldId id="267" r:id="rId13"/>
    <p:sldId id="270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4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8800" spc="-12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2" y="4206876"/>
            <a:ext cx="9228201" cy="1645920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rgbClr val="262626"/>
                </a:solidFill>
                <a:latin typeface="+mj-lt"/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621DE611-1139-46AD-9E7C-5A6D20A5535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51E11391-0E3C-48EA-926E-BE10434A45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259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E611-1139-46AD-9E7C-5A6D20A5535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11391-0E3C-48EA-926E-BE10434A45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552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3355848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8800" b="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4204209"/>
            <a:ext cx="9226296" cy="1645920"/>
          </a:xfrm>
        </p:spPr>
        <p:txBody>
          <a:bodyPr anchor="t">
            <a:normAutofit/>
          </a:bodyPr>
          <a:lstStyle>
            <a:lvl1pPr marL="0" indent="0"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E611-1139-46AD-9E7C-5A6D20A5535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11391-0E3C-48EA-926E-BE10434A45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8846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0" y="1998134"/>
            <a:ext cx="4663440" cy="376732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E611-1139-46AD-9E7C-5A6D20A5535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11391-0E3C-48EA-926E-BE10434A45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000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220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E611-1139-46AD-9E7C-5A6D20A5535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11391-0E3C-48EA-926E-BE10434A45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414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E611-1139-46AD-9E7C-5A6D20A5535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11391-0E3C-48EA-926E-BE10434A45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020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E611-1139-46AD-9E7C-5A6D20A5535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11391-0E3C-48EA-926E-BE10434A45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9212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4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2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E611-1139-46AD-9E7C-5A6D20A5535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fld id="{51E11391-0E3C-48EA-926E-BE10434A45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927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7"/>
            <a:ext cx="10780776" cy="613283"/>
          </a:xfrm>
        </p:spPr>
        <p:txBody>
          <a:bodyPr anchor="b">
            <a:normAutofit/>
          </a:bodyPr>
          <a:lstStyle>
            <a:lvl1pPr>
              <a:defRPr sz="32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t"/>
          <a:lstStyle>
            <a:lvl1pPr marL="0" indent="0" algn="ctr">
              <a:spcBef>
                <a:spcPts val="800"/>
              </a:spcBef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400">
                <a:solidFill>
                  <a:srgbClr val="262626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fld id="{621DE611-1139-46AD-9E7C-5A6D20A5535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fld id="{51E11391-0E3C-48EA-926E-BE10434A45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33718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E611-1139-46AD-9E7C-5A6D20A5535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11391-0E3C-48EA-926E-BE10434A45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675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0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5" y="714375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1DE611-1139-46AD-9E7C-5A6D20A5535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E11391-0E3C-48EA-926E-BE10434A45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793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4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fld id="{621DE611-1139-46AD-9E7C-5A6D20A5535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50" cap="all" baseline="0">
                <a:solidFill>
                  <a:schemeClr val="tx1">
                    <a:alpha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6" y="5876412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300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+mj-lt"/>
              </a:defRPr>
            </a:lvl1pPr>
          </a:lstStyle>
          <a:p>
            <a:fld id="{51E11391-0E3C-48EA-926E-BE10434A45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409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5400" kern="1200" spc="-120" baseline="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85000"/>
        </a:lnSpc>
        <a:spcBef>
          <a:spcPts val="13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347472" indent="-3429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54864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2000" i="1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822960" indent="-82296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09728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00000" indent="-228600" algn="l" defTabSz="914400" rtl="0" eaLnBrk="1" latinLnBrk="0" hangingPunct="1">
        <a:lnSpc>
          <a:spcPct val="85000"/>
        </a:lnSpc>
        <a:spcBef>
          <a:spcPts val="60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AB5FD-9E30-DAD5-3D02-048E41ADBB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CR" dirty="0"/>
              <a:t>Stock Pitch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587196-FBE2-C9FE-C8BB-38FAAAA538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CR" dirty="0"/>
              <a:t>Phoenix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68012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F2D21-A785-474C-8EA6-D22B13887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12" y="0"/>
            <a:ext cx="10772775" cy="1658198"/>
          </a:xfrm>
        </p:spPr>
        <p:txBody>
          <a:bodyPr>
            <a:normAutofit/>
          </a:bodyPr>
          <a:lstStyle/>
          <a:p>
            <a:r>
              <a:rPr lang="en-US" sz="3600" dirty="0"/>
              <a:t>Phoenix Portfolio Risk Is </a:t>
            </a:r>
            <a:r>
              <a:rPr lang="en-US" sz="3600" b="1" dirty="0"/>
              <a:t>Highly Concentrated in High-Beta Tech </a:t>
            </a:r>
            <a:r>
              <a:rPr lang="en-US" sz="3600" dirty="0"/>
              <a:t>Exposure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4ED0553-8A94-08E6-22C3-698716E1CD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07981" y="1312453"/>
            <a:ext cx="9376038" cy="500508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38C4ED0-B457-E718-0FE6-7243F0FBA4F5}"/>
              </a:ext>
            </a:extLst>
          </p:cNvPr>
          <p:cNvSpPr txBox="1"/>
          <p:nvPr/>
        </p:nvSpPr>
        <p:spPr>
          <a:xfrm>
            <a:off x="709612" y="6425356"/>
            <a:ext cx="106695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R" sz="1050" b="1" dirty="0" err="1"/>
              <a:t>Source</a:t>
            </a:r>
            <a:r>
              <a:rPr lang="es-CR" sz="1050" dirty="0"/>
              <a:t>: </a:t>
            </a:r>
            <a:r>
              <a:rPr lang="en-US" sz="1050" dirty="0"/>
              <a:t>Prepared by the author using data from Yahoo Finance over the last 3 years.</a:t>
            </a:r>
          </a:p>
        </p:txBody>
      </p:sp>
    </p:spTree>
    <p:extLst>
      <p:ext uri="{BB962C8B-B14F-4D97-AF65-F5344CB8AC3E}">
        <p14:creationId xmlns:p14="http://schemas.microsoft.com/office/powerpoint/2010/main" val="32952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F25891-44E6-B401-2286-40BF268442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lowchart: Off-page Connector 8">
            <a:extLst>
              <a:ext uri="{FF2B5EF4-FFF2-40B4-BE49-F238E27FC236}">
                <a16:creationId xmlns:a16="http://schemas.microsoft.com/office/drawing/2014/main" id="{A4FB4181-E676-C08B-D060-A5031D696BCB}"/>
              </a:ext>
            </a:extLst>
          </p:cNvPr>
          <p:cNvSpPr/>
          <p:nvPr/>
        </p:nvSpPr>
        <p:spPr>
          <a:xfrm rot="16200000">
            <a:off x="1783028" y="1050722"/>
            <a:ext cx="448733" cy="2846389"/>
          </a:xfrm>
          <a:prstGeom prst="flowChartOffpageConnector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59DFC0-4A49-8979-BACA-521F18DBA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12" y="0"/>
            <a:ext cx="10772775" cy="1658198"/>
          </a:xfrm>
        </p:spPr>
        <p:txBody>
          <a:bodyPr>
            <a:normAutofit/>
          </a:bodyPr>
          <a:lstStyle/>
          <a:p>
            <a:r>
              <a:rPr lang="en-US" sz="3600" dirty="0"/>
              <a:t>Addressing Tech Concentration Through Thematic Diversification</a:t>
            </a:r>
          </a:p>
        </p:txBody>
      </p:sp>
      <p:sp>
        <p:nvSpPr>
          <p:cNvPr id="10" name="Flowchart: Off-page Connector 9">
            <a:extLst>
              <a:ext uri="{FF2B5EF4-FFF2-40B4-BE49-F238E27FC236}">
                <a16:creationId xmlns:a16="http://schemas.microsoft.com/office/drawing/2014/main" id="{8B344D56-0E96-0A93-C691-B94E2405E69A}"/>
              </a:ext>
            </a:extLst>
          </p:cNvPr>
          <p:cNvSpPr/>
          <p:nvPr/>
        </p:nvSpPr>
        <p:spPr>
          <a:xfrm rot="16200000">
            <a:off x="5715795" y="369946"/>
            <a:ext cx="448733" cy="4207935"/>
          </a:xfrm>
          <a:prstGeom prst="flowChartOffpageConnector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D048A3-ED8D-843A-1843-071D50852F06}"/>
              </a:ext>
            </a:extLst>
          </p:cNvPr>
          <p:cNvSpPr txBox="1"/>
          <p:nvPr/>
        </p:nvSpPr>
        <p:spPr>
          <a:xfrm>
            <a:off x="650345" y="2282167"/>
            <a:ext cx="284638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R" b="1" dirty="0" err="1"/>
              <a:t>Problem</a:t>
            </a:r>
            <a:r>
              <a:rPr lang="es-CR" b="1" dirty="0"/>
              <a:t> </a:t>
            </a:r>
            <a:r>
              <a:rPr lang="es-CR" b="1" dirty="0" err="1"/>
              <a:t>Identified</a:t>
            </a:r>
            <a:br>
              <a:rPr lang="es-CR" b="1" dirty="0"/>
            </a:br>
            <a:endParaRPr lang="es-C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5 holdings with beta &gt; 1.4</a:t>
            </a:r>
            <a:endParaRPr lang="es-C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R" sz="1600" dirty="0" err="1"/>
              <a:t>Concentrated</a:t>
            </a:r>
            <a:r>
              <a:rPr lang="es-CR" sz="1600" dirty="0"/>
              <a:t> </a:t>
            </a:r>
            <a:r>
              <a:rPr lang="es-CR" sz="1600" dirty="0" err="1"/>
              <a:t>tech</a:t>
            </a:r>
            <a:r>
              <a:rPr lang="es-CR" sz="1600" dirty="0"/>
              <a:t> </a:t>
            </a:r>
            <a:r>
              <a:rPr lang="es-CR" sz="1600" dirty="0" err="1"/>
              <a:t>volatility</a:t>
            </a:r>
            <a:endParaRPr lang="es-C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R" sz="1600" dirty="0" err="1"/>
              <a:t>Limited</a:t>
            </a:r>
            <a:r>
              <a:rPr lang="es-CR" sz="1600" dirty="0"/>
              <a:t> </a:t>
            </a:r>
            <a:r>
              <a:rPr lang="es-CR" sz="1600" dirty="0" err="1"/>
              <a:t>low</a:t>
            </a:r>
            <a:r>
              <a:rPr lang="es-CR" sz="1600" dirty="0"/>
              <a:t> beta </a:t>
            </a:r>
            <a:r>
              <a:rPr lang="es-CR" sz="1600" dirty="0" err="1"/>
              <a:t>exposure</a:t>
            </a:r>
            <a:endParaRPr lang="es-C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11" name="Flowchart: Off-page Connector 10">
            <a:extLst>
              <a:ext uri="{FF2B5EF4-FFF2-40B4-BE49-F238E27FC236}">
                <a16:creationId xmlns:a16="http://schemas.microsoft.com/office/drawing/2014/main" id="{39B4B6E3-1575-2702-CBB5-48B5B9896FB6}"/>
              </a:ext>
            </a:extLst>
          </p:cNvPr>
          <p:cNvSpPr/>
          <p:nvPr/>
        </p:nvSpPr>
        <p:spPr>
          <a:xfrm rot="16200000">
            <a:off x="9648562" y="1050720"/>
            <a:ext cx="448733" cy="2846389"/>
          </a:xfrm>
          <a:prstGeom prst="flowChartOffpageConnector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E365F6-9EE4-D23D-9903-0824637F850B}"/>
              </a:ext>
            </a:extLst>
          </p:cNvPr>
          <p:cNvSpPr txBox="1"/>
          <p:nvPr/>
        </p:nvSpPr>
        <p:spPr>
          <a:xfrm>
            <a:off x="3902339" y="2282167"/>
            <a:ext cx="4141790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Macro Themes from 2026 Outlooks</a:t>
            </a:r>
            <a:endParaRPr lang="es-CR" b="1" dirty="0"/>
          </a:p>
          <a:p>
            <a:endParaRPr lang="es-C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R" sz="1600" dirty="0"/>
              <a:t>AI </a:t>
            </a:r>
            <a:r>
              <a:rPr lang="es-CR" sz="1600" dirty="0" err="1"/>
              <a:t>investment</a:t>
            </a:r>
            <a:r>
              <a:rPr lang="es-CR" sz="1600" dirty="0"/>
              <a:t> </a:t>
            </a:r>
            <a:r>
              <a:rPr lang="es-CR" sz="1600" dirty="0" err="1"/>
              <a:t>remains</a:t>
            </a:r>
            <a:r>
              <a:rPr lang="es-CR" sz="1600" dirty="0"/>
              <a:t> </a:t>
            </a:r>
            <a:r>
              <a:rPr lang="es-CR" sz="1600" dirty="0" err="1"/>
              <a:t>strong</a:t>
            </a:r>
            <a:r>
              <a:rPr lang="es-CR" sz="1600" dirty="0"/>
              <a:t> (1)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R" sz="1600" b="1" dirty="0" err="1"/>
              <a:t>Infrastructure</a:t>
            </a:r>
            <a:r>
              <a:rPr lang="es-CR" sz="1600" b="1" dirty="0"/>
              <a:t> &amp; </a:t>
            </a:r>
            <a:r>
              <a:rPr lang="es-CR" sz="1600" b="1" dirty="0" err="1"/>
              <a:t>energy</a:t>
            </a:r>
            <a:r>
              <a:rPr lang="es-CR" sz="1600" b="1" dirty="0"/>
              <a:t> </a:t>
            </a:r>
            <a:r>
              <a:rPr lang="es-CR" sz="1600" b="1" dirty="0" err="1"/>
              <a:t>demand</a:t>
            </a:r>
            <a:r>
              <a:rPr lang="es-CR" sz="1600" b="1" dirty="0"/>
              <a:t> </a:t>
            </a:r>
            <a:r>
              <a:rPr lang="es-CR" sz="1600" b="1" dirty="0" err="1"/>
              <a:t>rising</a:t>
            </a:r>
            <a:r>
              <a:rPr lang="es-CR" sz="1600" b="1" dirty="0"/>
              <a:t> </a:t>
            </a:r>
            <a:r>
              <a:rPr lang="es-CR" sz="1600" dirty="0"/>
              <a:t>(1)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R" sz="1600" dirty="0" err="1"/>
              <a:t>Power</a:t>
            </a:r>
            <a:r>
              <a:rPr lang="es-CR" sz="1600" dirty="0"/>
              <a:t> </a:t>
            </a:r>
            <a:r>
              <a:rPr lang="es-CR" sz="1600" dirty="0" err="1"/>
              <a:t>availability</a:t>
            </a:r>
            <a:r>
              <a:rPr lang="es-CR" sz="1600" dirty="0"/>
              <a:t> </a:t>
            </a:r>
            <a:r>
              <a:rPr lang="es-CR" sz="1600" dirty="0" err="1"/>
              <a:t>is</a:t>
            </a:r>
            <a:r>
              <a:rPr lang="es-CR" sz="1600" dirty="0"/>
              <a:t> AI </a:t>
            </a:r>
            <a:r>
              <a:rPr lang="es-CR" sz="1600" dirty="0" err="1"/>
              <a:t>bottleneck</a:t>
            </a:r>
            <a:r>
              <a:rPr lang="es-CR" sz="1600" dirty="0"/>
              <a:t> (2)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R" sz="1600" dirty="0"/>
              <a:t>U.S. </a:t>
            </a:r>
            <a:r>
              <a:rPr lang="es-CR" sz="1600" b="1" dirty="0"/>
              <a:t>natural gas</a:t>
            </a:r>
            <a:r>
              <a:rPr lang="es-CR" sz="1600" dirty="0"/>
              <a:t> </a:t>
            </a:r>
            <a:r>
              <a:rPr lang="es-CR" sz="1600" dirty="0" err="1"/>
              <a:t>pivotal</a:t>
            </a:r>
            <a:r>
              <a:rPr lang="es-CR" sz="1600" dirty="0"/>
              <a:t> </a:t>
            </a:r>
            <a:r>
              <a:rPr lang="es-CR" sz="1600" dirty="0" err="1"/>
              <a:t>globally</a:t>
            </a:r>
            <a:r>
              <a:rPr lang="es-CR" sz="1600" dirty="0"/>
              <a:t> (2)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CR" sz="1600" b="1" dirty="0" err="1"/>
              <a:t>Infrastructure</a:t>
            </a:r>
            <a:r>
              <a:rPr lang="es-CR" sz="1600" dirty="0"/>
              <a:t> </a:t>
            </a:r>
            <a:r>
              <a:rPr lang="es-CR" sz="1600" dirty="0" err="1"/>
              <a:t>build</a:t>
            </a:r>
            <a:r>
              <a:rPr lang="es-CR" sz="1600" dirty="0"/>
              <a:t> </a:t>
            </a:r>
            <a:r>
              <a:rPr lang="es-CR" sz="1600" dirty="0" err="1"/>
              <a:t>out</a:t>
            </a:r>
            <a:r>
              <a:rPr lang="es-CR" sz="1600" dirty="0"/>
              <a:t> </a:t>
            </a:r>
            <a:r>
              <a:rPr lang="es-CR" sz="1600" dirty="0" err="1"/>
              <a:t>accelerating</a:t>
            </a:r>
            <a:r>
              <a:rPr lang="es-CR" sz="1600" dirty="0"/>
              <a:t> (2)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0887C1-A1F1-2FC9-0ED3-938F8858D0C6}"/>
              </a:ext>
            </a:extLst>
          </p:cNvPr>
          <p:cNvSpPr txBox="1"/>
          <p:nvPr/>
        </p:nvSpPr>
        <p:spPr>
          <a:xfrm>
            <a:off x="709612" y="6289889"/>
            <a:ext cx="1066958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R" sz="1050" b="1" dirty="0" err="1"/>
              <a:t>Source</a:t>
            </a:r>
            <a:r>
              <a:rPr lang="es-CR" sz="1050" dirty="0"/>
              <a:t>: (1) </a:t>
            </a:r>
            <a:r>
              <a:rPr lang="en-US" sz="1050" dirty="0"/>
              <a:t>J.P. Morgan Asset Management. 2026 Year-Ahead Investment Outlook: AI Lift and Economic Drift. November 2025</a:t>
            </a:r>
            <a:r>
              <a:rPr lang="es-CR" sz="1050" dirty="0"/>
              <a:t>. (2): </a:t>
            </a:r>
            <a:r>
              <a:rPr lang="en-US" sz="1050" dirty="0"/>
              <a:t>BlackRock iShares. 2026 Thematic Outlook: Charting the Themes Impacting Markets. January 2026.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C7C5A0-CF65-50B0-4961-7D3A1B649C39}"/>
              </a:ext>
            </a:extLst>
          </p:cNvPr>
          <p:cNvSpPr txBox="1"/>
          <p:nvPr/>
        </p:nvSpPr>
        <p:spPr>
          <a:xfrm>
            <a:off x="8449734" y="2282167"/>
            <a:ext cx="3158066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R" b="1" dirty="0" err="1">
                <a:solidFill>
                  <a:schemeClr val="bg1"/>
                </a:solidFill>
              </a:rPr>
              <a:t>Selection</a:t>
            </a:r>
            <a:r>
              <a:rPr lang="es-CR" b="1" dirty="0">
                <a:solidFill>
                  <a:schemeClr val="bg1"/>
                </a:solidFill>
              </a:rPr>
              <a:t> </a:t>
            </a:r>
            <a:r>
              <a:rPr lang="es-CR" b="1" dirty="0" err="1">
                <a:solidFill>
                  <a:schemeClr val="bg1"/>
                </a:solidFill>
              </a:rPr>
              <a:t>Filters</a:t>
            </a:r>
            <a:endParaRPr lang="es-CR" b="1" dirty="0">
              <a:solidFill>
                <a:schemeClr val="bg1"/>
              </a:solidFill>
            </a:endParaRPr>
          </a:p>
          <a:p>
            <a:endParaRPr lang="es-CR" sz="16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Beta &lt;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Lower correlation to tech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b="1" dirty="0"/>
              <a:t>Exposure to power / energy infrastructure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Catalyst within 6 months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Reasonable valuation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0CA4B4-9C03-54C2-3004-79F9376171A4}"/>
              </a:ext>
            </a:extLst>
          </p:cNvPr>
          <p:cNvSpPr txBox="1"/>
          <p:nvPr/>
        </p:nvSpPr>
        <p:spPr>
          <a:xfrm>
            <a:off x="1119190" y="5132414"/>
            <a:ext cx="101769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Most consistent themes across outlooks were </a:t>
            </a:r>
            <a:r>
              <a:rPr lang="en-US" b="1" dirty="0"/>
              <a:t>energy infrastructure, power generation, and natural gas</a:t>
            </a:r>
          </a:p>
        </p:txBody>
      </p:sp>
    </p:spTree>
    <p:extLst>
      <p:ext uri="{BB962C8B-B14F-4D97-AF65-F5344CB8AC3E}">
        <p14:creationId xmlns:p14="http://schemas.microsoft.com/office/powerpoint/2010/main" val="34323710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91F2C-99AD-B2DF-6151-33E9A3D79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DF189-4EB1-0334-E861-9D0AFE8E4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12" y="130110"/>
            <a:ext cx="10772775" cy="768053"/>
          </a:xfrm>
        </p:spPr>
        <p:txBody>
          <a:bodyPr>
            <a:normAutofit/>
          </a:bodyPr>
          <a:lstStyle/>
          <a:p>
            <a:r>
              <a:rPr lang="en-US" sz="3600" dirty="0"/>
              <a:t>Initiate 5-8% Position in Cheniere Energy (LNG)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B9ADE4-99E1-05A8-9845-4575CD5EA4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6626" y="1419274"/>
            <a:ext cx="9438746" cy="467067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D3D1003-AE59-0F5D-C804-D01B6E06FFF1}"/>
              </a:ext>
            </a:extLst>
          </p:cNvPr>
          <p:cNvSpPr txBox="1"/>
          <p:nvPr/>
        </p:nvSpPr>
        <p:spPr>
          <a:xfrm>
            <a:off x="709612" y="6289889"/>
            <a:ext cx="106695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R" sz="1050" b="1" dirty="0" err="1"/>
              <a:t>Source</a:t>
            </a:r>
            <a:r>
              <a:rPr lang="es-CR" sz="1050" dirty="0"/>
              <a:t>: </a:t>
            </a:r>
            <a:r>
              <a:rPr lang="en-US" sz="1050" dirty="0" err="1"/>
              <a:t>Finviz</a:t>
            </a:r>
            <a:r>
              <a:rPr lang="en-US" sz="1050" dirty="0"/>
              <a:t>; Yahoo Finance; </a:t>
            </a:r>
            <a:r>
              <a:rPr lang="en-US" sz="1050" dirty="0" err="1"/>
              <a:t>TipRanks</a:t>
            </a:r>
            <a:r>
              <a:rPr lang="en-US" sz="1050" dirty="0"/>
              <a:t> analyst consensus data (Feb 2026).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F3AE542-1DD8-FD65-5552-F1A3A353A5AB}"/>
              </a:ext>
            </a:extLst>
          </p:cNvPr>
          <p:cNvSpPr txBox="1">
            <a:spLocks/>
          </p:cNvSpPr>
          <p:nvPr/>
        </p:nvSpPr>
        <p:spPr>
          <a:xfrm>
            <a:off x="709612" y="689941"/>
            <a:ext cx="10772775" cy="48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/>
              <a:t>Structural LNG Infrastructure Exposure to Improve Portfolio Risk-Adjusted Returns</a:t>
            </a:r>
          </a:p>
        </p:txBody>
      </p:sp>
      <p:pic>
        <p:nvPicPr>
          <p:cNvPr id="3074" name="Picture 2" descr="Investor Relations :: Cheniere Energy, Inc. (LNG)">
            <a:extLst>
              <a:ext uri="{FF2B5EF4-FFF2-40B4-BE49-F238E27FC236}">
                <a16:creationId xmlns:a16="http://schemas.microsoft.com/office/drawing/2014/main" id="{10F3B9EA-67BD-7F8B-5E85-A712376B8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92167" y="5078300"/>
            <a:ext cx="1257300" cy="3604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68030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6D0B4-E53D-8005-EB86-04E8B2698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F0EBC8A-DF32-2F74-0ACD-B2C7BE6DAB9F}"/>
              </a:ext>
            </a:extLst>
          </p:cNvPr>
          <p:cNvSpPr/>
          <p:nvPr/>
        </p:nvSpPr>
        <p:spPr>
          <a:xfrm>
            <a:off x="6095999" y="3520040"/>
            <a:ext cx="5054602" cy="1972733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5A69608-C1A7-AF03-738C-8A34A569AB28}"/>
              </a:ext>
            </a:extLst>
          </p:cNvPr>
          <p:cNvSpPr/>
          <p:nvPr/>
        </p:nvSpPr>
        <p:spPr>
          <a:xfrm>
            <a:off x="524933" y="3520041"/>
            <a:ext cx="5054602" cy="1972733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3F550B-FAFC-EE5F-25CB-A3919444D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12" y="130110"/>
            <a:ext cx="10772775" cy="768053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Cheniere Energy Is the Leading U.S. LNG Export Infrastructure Operator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770182-0030-BA95-0096-602D50CF4737}"/>
              </a:ext>
            </a:extLst>
          </p:cNvPr>
          <p:cNvSpPr txBox="1"/>
          <p:nvPr/>
        </p:nvSpPr>
        <p:spPr>
          <a:xfrm>
            <a:off x="709612" y="6289889"/>
            <a:ext cx="106695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R" sz="1050" b="1" dirty="0" err="1"/>
              <a:t>Source</a:t>
            </a:r>
            <a:r>
              <a:rPr lang="es-CR" sz="1050" dirty="0"/>
              <a:t>: </a:t>
            </a:r>
            <a:r>
              <a:rPr lang="en-US" sz="1050" dirty="0"/>
              <a:t>Press Search, Cheniere Investor Relations 10Q Forms.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7AAED23-8C9D-3AFB-6479-18A0535BB3F2}"/>
              </a:ext>
            </a:extLst>
          </p:cNvPr>
          <p:cNvSpPr/>
          <p:nvPr/>
        </p:nvSpPr>
        <p:spPr>
          <a:xfrm>
            <a:off x="524933" y="1295400"/>
            <a:ext cx="5054602" cy="197273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4B23C0E-91E7-E234-5809-7F92A1B30CD0}"/>
              </a:ext>
            </a:extLst>
          </p:cNvPr>
          <p:cNvSpPr/>
          <p:nvPr/>
        </p:nvSpPr>
        <p:spPr>
          <a:xfrm>
            <a:off x="6044405" y="1295399"/>
            <a:ext cx="5054602" cy="197273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F6364D3-5BA7-9995-15F2-254A86CB275C}"/>
              </a:ext>
            </a:extLst>
          </p:cNvPr>
          <p:cNvSpPr txBox="1">
            <a:spLocks/>
          </p:cNvSpPr>
          <p:nvPr/>
        </p:nvSpPr>
        <p:spPr>
          <a:xfrm>
            <a:off x="709612" y="689941"/>
            <a:ext cx="10772775" cy="48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/>
              <a:t>It owns large industrial terminals that liquefy natural gas in the U.S. and ship it to utilities and energy companies worldwide under long-term contracts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FE9768-32D7-88AA-62A5-CD972E3F4CC6}"/>
              </a:ext>
            </a:extLst>
          </p:cNvPr>
          <p:cNvSpPr txBox="1"/>
          <p:nvPr/>
        </p:nvSpPr>
        <p:spPr>
          <a:xfrm>
            <a:off x="804334" y="1432446"/>
            <a:ext cx="4775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R" sz="1600" b="1" dirty="0" err="1"/>
              <a:t>What</a:t>
            </a:r>
            <a:r>
              <a:rPr lang="es-CR" sz="1600" b="1" dirty="0"/>
              <a:t> do </a:t>
            </a:r>
            <a:r>
              <a:rPr lang="es-CR" sz="1600" b="1" dirty="0" err="1"/>
              <a:t>they</a:t>
            </a:r>
            <a:r>
              <a:rPr lang="es-CR" sz="1600" b="1" dirty="0"/>
              <a:t> do?</a:t>
            </a:r>
          </a:p>
          <a:p>
            <a:endParaRPr lang="es-C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Buy natural gas in the U.S. (priced at Henry Hub)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Cool it to -162°C to turn it into liquid (LNG)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Load it onto specialized ships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Export it to Europe and Asia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009A4-ED72-952A-7CC9-9168A0BE1400}"/>
              </a:ext>
            </a:extLst>
          </p:cNvPr>
          <p:cNvSpPr txBox="1"/>
          <p:nvPr/>
        </p:nvSpPr>
        <p:spPr>
          <a:xfrm>
            <a:off x="6256867" y="1432446"/>
            <a:ext cx="4775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R" sz="1600" b="1" dirty="0" err="1"/>
              <a:t>How</a:t>
            </a:r>
            <a:r>
              <a:rPr lang="es-CR" sz="1600" b="1" dirty="0"/>
              <a:t> </a:t>
            </a:r>
            <a:r>
              <a:rPr lang="es-CR" sz="1600" b="1" dirty="0" err="1"/>
              <a:t>they</a:t>
            </a:r>
            <a:r>
              <a:rPr lang="es-CR" sz="1600" b="1" dirty="0"/>
              <a:t> </a:t>
            </a:r>
            <a:r>
              <a:rPr lang="es-CR" sz="1600" b="1" dirty="0" err="1"/>
              <a:t>make</a:t>
            </a:r>
            <a:r>
              <a:rPr lang="es-CR" sz="1600" b="1" dirty="0"/>
              <a:t> </a:t>
            </a:r>
            <a:r>
              <a:rPr lang="es-CR" sz="1600" b="1" dirty="0" err="1"/>
              <a:t>money</a:t>
            </a:r>
            <a:r>
              <a:rPr lang="es-CR" sz="1600" b="1" dirty="0"/>
              <a:t>?</a:t>
            </a:r>
          </a:p>
          <a:p>
            <a:endParaRPr lang="es-C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Long-term 15-20 year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“Take or pay” 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Customers pay fixed liquefaction fees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Limited dependence on short-term gas price moves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D30C65-8AFB-3F47-5E5B-E31F884DAF8D}"/>
              </a:ext>
            </a:extLst>
          </p:cNvPr>
          <p:cNvSpPr txBox="1"/>
          <p:nvPr/>
        </p:nvSpPr>
        <p:spPr>
          <a:xfrm>
            <a:off x="804334" y="3676892"/>
            <a:ext cx="4775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R" sz="1600" b="1" dirty="0">
                <a:solidFill>
                  <a:schemeClr val="bg1"/>
                </a:solidFill>
              </a:rPr>
              <a:t>Who </a:t>
            </a:r>
            <a:r>
              <a:rPr lang="es-CR" sz="1600" b="1" dirty="0" err="1">
                <a:solidFill>
                  <a:schemeClr val="bg1"/>
                </a:solidFill>
              </a:rPr>
              <a:t>they</a:t>
            </a:r>
            <a:r>
              <a:rPr lang="es-CR" sz="1600" b="1" dirty="0">
                <a:solidFill>
                  <a:schemeClr val="bg1"/>
                </a:solidFill>
              </a:rPr>
              <a:t> </a:t>
            </a:r>
            <a:r>
              <a:rPr lang="es-CR" sz="1600" b="1" dirty="0" err="1">
                <a:solidFill>
                  <a:schemeClr val="bg1"/>
                </a:solidFill>
              </a:rPr>
              <a:t>sell</a:t>
            </a:r>
            <a:r>
              <a:rPr lang="es-CR" sz="1600" b="1" dirty="0">
                <a:solidFill>
                  <a:schemeClr val="bg1"/>
                </a:solidFill>
              </a:rPr>
              <a:t> </a:t>
            </a:r>
            <a:r>
              <a:rPr lang="es-CR" sz="1600" b="1" dirty="0" err="1">
                <a:solidFill>
                  <a:schemeClr val="bg1"/>
                </a:solidFill>
              </a:rPr>
              <a:t>to</a:t>
            </a:r>
            <a:r>
              <a:rPr lang="es-CR" sz="1600" b="1" dirty="0">
                <a:solidFill>
                  <a:schemeClr val="bg1"/>
                </a:solidFill>
              </a:rPr>
              <a:t>?</a:t>
            </a:r>
          </a:p>
          <a:p>
            <a:endParaRPr lang="es-CR" sz="16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European utilities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Asian utilities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Energy majors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National oil companies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040869-8DA4-F24B-9C13-61B3AF3AF1A2}"/>
              </a:ext>
            </a:extLst>
          </p:cNvPr>
          <p:cNvSpPr txBox="1"/>
          <p:nvPr/>
        </p:nvSpPr>
        <p:spPr>
          <a:xfrm>
            <a:off x="6256867" y="3676892"/>
            <a:ext cx="47752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R" sz="1600" b="1" dirty="0" err="1">
                <a:solidFill>
                  <a:schemeClr val="bg1"/>
                </a:solidFill>
              </a:rPr>
              <a:t>Why</a:t>
            </a:r>
            <a:r>
              <a:rPr lang="es-CR" sz="1600" b="1" dirty="0">
                <a:solidFill>
                  <a:schemeClr val="bg1"/>
                </a:solidFill>
              </a:rPr>
              <a:t> </a:t>
            </a:r>
            <a:r>
              <a:rPr lang="es-CR" sz="1600" b="1" dirty="0" err="1">
                <a:solidFill>
                  <a:schemeClr val="bg1"/>
                </a:solidFill>
              </a:rPr>
              <a:t>They’re</a:t>
            </a:r>
            <a:r>
              <a:rPr lang="es-CR" sz="1600" b="1" dirty="0">
                <a:solidFill>
                  <a:schemeClr val="bg1"/>
                </a:solidFill>
              </a:rPr>
              <a:t> a Leader?</a:t>
            </a:r>
          </a:p>
          <a:p>
            <a:endParaRPr lang="es-CR" sz="16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Largest U.S. LNG exporter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Hard to replicate infrastructure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Ongoing capacity expansion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Long-term contracts already signed (reputation)</a:t>
            </a:r>
          </a:p>
        </p:txBody>
      </p:sp>
    </p:spTree>
    <p:extLst>
      <p:ext uri="{BB962C8B-B14F-4D97-AF65-F5344CB8AC3E}">
        <p14:creationId xmlns:p14="http://schemas.microsoft.com/office/powerpoint/2010/main" val="17715051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323-9BB6-C832-AC21-C05829DA3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7E99D-CC41-F65C-CB11-8C8E8D144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12" y="130110"/>
            <a:ext cx="10772775" cy="768053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Cheniere Energy Is the Leading U.S. LNG Export Infrastructure Operator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6F81479-0BFF-D25E-A386-570C435EAA7A}"/>
              </a:ext>
            </a:extLst>
          </p:cNvPr>
          <p:cNvSpPr txBox="1">
            <a:spLocks/>
          </p:cNvSpPr>
          <p:nvPr/>
        </p:nvSpPr>
        <p:spPr>
          <a:xfrm>
            <a:off x="709612" y="689941"/>
            <a:ext cx="10772775" cy="48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/>
              <a:t>It owns large industrial terminals that liquefy natural gas in the U.S. and ship it to utilities and energy companies worldwide under long-term contracts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312506-1A90-EF8E-CCA0-3C7529E2F085}"/>
              </a:ext>
            </a:extLst>
          </p:cNvPr>
          <p:cNvSpPr txBox="1"/>
          <p:nvPr/>
        </p:nvSpPr>
        <p:spPr>
          <a:xfrm>
            <a:off x="709612" y="6289889"/>
            <a:ext cx="106695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R" sz="1050" b="1" dirty="0" err="1"/>
              <a:t>Source</a:t>
            </a:r>
            <a:r>
              <a:rPr lang="es-CR" sz="1050" dirty="0"/>
              <a:t>: </a:t>
            </a:r>
            <a:r>
              <a:rPr lang="en-US" sz="1050" dirty="0"/>
              <a:t>Press Search, Cheniere Investor Relations 10Q Forms.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A88875B-FF00-6474-9098-E8D772B43F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6478" y="1574468"/>
            <a:ext cx="7149997" cy="419635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5C4C299-E601-B9BA-BF13-F2BB4EF02EEC}"/>
              </a:ext>
            </a:extLst>
          </p:cNvPr>
          <p:cNvSpPr txBox="1"/>
          <p:nvPr/>
        </p:nvSpPr>
        <p:spPr>
          <a:xfrm>
            <a:off x="7766475" y="1733770"/>
            <a:ext cx="414179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Revenue Exposure: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Global LNG demand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Long-term contracted volumes</a:t>
            </a:r>
          </a:p>
          <a:p>
            <a:endParaRPr lang="en-US" b="1" dirty="0"/>
          </a:p>
          <a:p>
            <a:r>
              <a:rPr lang="en-US" b="1" dirty="0"/>
              <a:t>Cost Exposure: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Henry Hub gas price</a:t>
            </a:r>
          </a:p>
          <a:p>
            <a:endParaRPr lang="en-US" dirty="0"/>
          </a:p>
          <a:p>
            <a:r>
              <a:rPr lang="en-US" b="1" dirty="0"/>
              <a:t>Stability From: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15-20 year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95% contracted capacity until 2030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Large-scale infrastructure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665145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90A35-5488-4BC1-9404-DD3CEB882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DE90A5-ACFB-8E76-16EF-76442CFD7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12" y="130110"/>
            <a:ext cx="10772775" cy="768053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Global LNG Supply Wave + European Rewiring = Structural Tailwind for U.S. Exporters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2FEE76D3-9BA2-EA80-5C7A-DC255A81CD01}"/>
              </a:ext>
            </a:extLst>
          </p:cNvPr>
          <p:cNvSpPr txBox="1">
            <a:spLocks/>
          </p:cNvSpPr>
          <p:nvPr/>
        </p:nvSpPr>
        <p:spPr>
          <a:xfrm>
            <a:off x="709612" y="927011"/>
            <a:ext cx="10772775" cy="48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/>
              <a:t>EIA projects accelerating LNG supply growth in 2026 while Europe permanently reshapes its gas sourcing away from Russia.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4321DA-37B5-833F-3866-ABF4E980072B}"/>
              </a:ext>
            </a:extLst>
          </p:cNvPr>
          <p:cNvSpPr txBox="1"/>
          <p:nvPr/>
        </p:nvSpPr>
        <p:spPr>
          <a:xfrm>
            <a:off x="709612" y="6289889"/>
            <a:ext cx="106695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R" sz="1050" b="1" dirty="0" err="1"/>
              <a:t>Source</a:t>
            </a:r>
            <a:r>
              <a:rPr lang="es-CR" sz="1050" dirty="0"/>
              <a:t>: </a:t>
            </a:r>
            <a:r>
              <a:rPr lang="en-US" sz="1050" dirty="0"/>
              <a:t>U.S. Energy Information Administration (EIA), Gas Market Report, Q1 2026.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CFAAED-87E3-C2D1-AADC-DE866ACD16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1411009"/>
            <a:ext cx="7890933" cy="4486579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C18454B9-3FB5-CDDB-C184-C63D3CECC1DA}"/>
              </a:ext>
            </a:extLst>
          </p:cNvPr>
          <p:cNvSpPr/>
          <p:nvPr/>
        </p:nvSpPr>
        <p:spPr>
          <a:xfrm>
            <a:off x="7907865" y="2658852"/>
            <a:ext cx="1159934" cy="9652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14A7912-1FB5-4DC7-EAAF-A7B9D76B92E1}"/>
              </a:ext>
            </a:extLst>
          </p:cNvPr>
          <p:cNvSpPr/>
          <p:nvPr/>
        </p:nvSpPr>
        <p:spPr>
          <a:xfrm>
            <a:off x="1729133" y="2402648"/>
            <a:ext cx="1266616" cy="1026351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F983CC-C9AB-0DE9-DCF9-3CD30F83AE37}"/>
              </a:ext>
            </a:extLst>
          </p:cNvPr>
          <p:cNvSpPr txBox="1"/>
          <p:nvPr/>
        </p:nvSpPr>
        <p:spPr>
          <a:xfrm>
            <a:off x="9245599" y="2850375"/>
            <a:ext cx="21336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Largest LNG supply build out since 2019 (per EIA)</a:t>
            </a:r>
          </a:p>
        </p:txBody>
      </p:sp>
    </p:spTree>
    <p:extLst>
      <p:ext uri="{BB962C8B-B14F-4D97-AF65-F5344CB8AC3E}">
        <p14:creationId xmlns:p14="http://schemas.microsoft.com/office/powerpoint/2010/main" val="3964319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F75E9-CF50-A5F5-E3E6-DDE21EF3C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26904-E999-BC65-AEE4-0678630D70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12" y="130110"/>
            <a:ext cx="10772775" cy="768053"/>
          </a:xfrm>
        </p:spPr>
        <p:txBody>
          <a:bodyPr>
            <a:normAutofit fontScale="90000"/>
          </a:bodyPr>
          <a:lstStyle/>
          <a:p>
            <a:r>
              <a:rPr lang="en-US" sz="3600" dirty="0"/>
              <a:t>Global LNG Supply Wave + European Rewiring = Structural Tailwind for U.S. Exporters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C4CB631-4293-79FA-214B-363DF673D821}"/>
              </a:ext>
            </a:extLst>
          </p:cNvPr>
          <p:cNvSpPr txBox="1">
            <a:spLocks/>
          </p:cNvSpPr>
          <p:nvPr/>
        </p:nvSpPr>
        <p:spPr>
          <a:xfrm>
            <a:off x="709612" y="927011"/>
            <a:ext cx="10772775" cy="48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/>
              <a:t>EIA projects accelerating LNG supply growth in 2026 while Europe permanently reshapes its gas sourcing away from Russia.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64CF90-0F9A-3749-4BFF-0D56A1FCEFAE}"/>
              </a:ext>
            </a:extLst>
          </p:cNvPr>
          <p:cNvSpPr txBox="1"/>
          <p:nvPr/>
        </p:nvSpPr>
        <p:spPr>
          <a:xfrm>
            <a:off x="709612" y="6289889"/>
            <a:ext cx="106695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R" sz="1050" b="1" dirty="0" err="1"/>
              <a:t>Source</a:t>
            </a:r>
            <a:r>
              <a:rPr lang="es-CR" sz="1050" dirty="0"/>
              <a:t>: </a:t>
            </a:r>
            <a:r>
              <a:rPr lang="en-US" sz="1050" dirty="0"/>
              <a:t>U.S. Energy Information Administration (EIA), Gas Market Report, Q1 2026.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C3B5E15-5E52-FE99-5F60-67086DA820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12" y="1744155"/>
            <a:ext cx="8400250" cy="418683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40BDCFA-4EF2-BDB9-E118-CE142B997597}"/>
              </a:ext>
            </a:extLst>
          </p:cNvPr>
          <p:cNvSpPr txBox="1"/>
          <p:nvPr/>
        </p:nvSpPr>
        <p:spPr>
          <a:xfrm>
            <a:off x="9194798" y="2850375"/>
            <a:ext cx="274320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0000"/>
                </a:solidFill>
              </a:rPr>
              <a:t>Europe is structurally removing Russian gas.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FF0000"/>
                </a:solidFill>
              </a:rPr>
              <a:t>That supply gap must be filled. U.S. LNG is the primary marginal supplier</a:t>
            </a:r>
          </a:p>
        </p:txBody>
      </p:sp>
    </p:spTree>
    <p:extLst>
      <p:ext uri="{BB962C8B-B14F-4D97-AF65-F5344CB8AC3E}">
        <p14:creationId xmlns:p14="http://schemas.microsoft.com/office/powerpoint/2010/main" val="12149738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EE196-5C18-C95D-EA00-0299A6CAF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EF58A-8C66-FDC8-750D-358B0739D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12" y="130110"/>
            <a:ext cx="10772775" cy="768053"/>
          </a:xfrm>
        </p:spPr>
        <p:txBody>
          <a:bodyPr>
            <a:normAutofit/>
          </a:bodyPr>
          <a:lstStyle/>
          <a:p>
            <a:r>
              <a:rPr lang="en-US" sz="3600" dirty="0"/>
              <a:t>Attractive Relative Valuation Within LNG &amp; Midstream Peers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39FD1C2A-3CE2-69CC-EA69-9143386102DB}"/>
              </a:ext>
            </a:extLst>
          </p:cNvPr>
          <p:cNvSpPr txBox="1">
            <a:spLocks/>
          </p:cNvSpPr>
          <p:nvPr/>
        </p:nvSpPr>
        <p:spPr>
          <a:xfrm>
            <a:off x="709612" y="689941"/>
            <a:ext cx="10772775" cy="48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/>
              <a:t>Cheniere’s  ~12x P/E compares favorably to peers trading 20-35x earnings.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94A55C-3C2A-AD87-ADA1-30D2F3D5AD36}"/>
              </a:ext>
            </a:extLst>
          </p:cNvPr>
          <p:cNvSpPr txBox="1"/>
          <p:nvPr/>
        </p:nvSpPr>
        <p:spPr>
          <a:xfrm>
            <a:off x="709612" y="6289889"/>
            <a:ext cx="106695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R" sz="1050" b="1" dirty="0" err="1"/>
              <a:t>Source</a:t>
            </a:r>
            <a:r>
              <a:rPr lang="es-CR" sz="1050" dirty="0"/>
              <a:t>: </a:t>
            </a:r>
            <a:r>
              <a:rPr lang="en-US" sz="1050" dirty="0" err="1"/>
              <a:t>TipRanks</a:t>
            </a:r>
            <a:r>
              <a:rPr lang="en-US" sz="1050" dirty="0"/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53FA33-94A7-FC2A-BC0F-375717EDB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1" y="1218119"/>
            <a:ext cx="7958667" cy="23924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5B1965-6FC0-F226-BDD1-B42F026CD4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4936" y="3577484"/>
            <a:ext cx="6722532" cy="2586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204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47DA7-F3D9-4790-2A75-AC65697DE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75F15-DDF8-D354-2B0B-DFEA2F35D2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12" y="130110"/>
            <a:ext cx="10772775" cy="768053"/>
          </a:xfrm>
        </p:spPr>
        <p:txBody>
          <a:bodyPr>
            <a:normAutofit/>
          </a:bodyPr>
          <a:lstStyle/>
          <a:p>
            <a:r>
              <a:rPr lang="en-US" sz="3600" dirty="0"/>
              <a:t>Attractive Relative Valuation Within LNG &amp; Midstream Peers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982C569-D936-18DC-96ED-1689499C0AD5}"/>
              </a:ext>
            </a:extLst>
          </p:cNvPr>
          <p:cNvSpPr txBox="1">
            <a:spLocks/>
          </p:cNvSpPr>
          <p:nvPr/>
        </p:nvSpPr>
        <p:spPr>
          <a:xfrm>
            <a:off x="709612" y="689941"/>
            <a:ext cx="10772775" cy="48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/>
              <a:t>Cheniere’s  ~12x P/E compares favorably to peers trading 20-35x earnings.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BD51F6-2294-8488-9107-BC71ABC87666}"/>
              </a:ext>
            </a:extLst>
          </p:cNvPr>
          <p:cNvSpPr txBox="1"/>
          <p:nvPr/>
        </p:nvSpPr>
        <p:spPr>
          <a:xfrm>
            <a:off x="709612" y="6289889"/>
            <a:ext cx="106695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R" sz="1050" b="1" dirty="0" err="1"/>
              <a:t>Source</a:t>
            </a:r>
            <a:r>
              <a:rPr lang="es-CR" sz="1050" dirty="0"/>
              <a:t>: </a:t>
            </a:r>
            <a:r>
              <a:rPr lang="en-US" sz="1050" dirty="0" err="1"/>
              <a:t>FinViz</a:t>
            </a:r>
            <a:r>
              <a:rPr lang="en-US" sz="1050" dirty="0"/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995903A-C7E4-087D-D545-6710807FEE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94" t="29369" r="30486" b="29239"/>
          <a:stretch>
            <a:fillRect/>
          </a:stretch>
        </p:blipFill>
        <p:spPr>
          <a:xfrm>
            <a:off x="1600199" y="1651000"/>
            <a:ext cx="8686801" cy="3931596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E2E30EF-F1E7-C4B1-0EC4-CC296199D4FF}"/>
              </a:ext>
            </a:extLst>
          </p:cNvPr>
          <p:cNvSpPr/>
          <p:nvPr/>
        </p:nvSpPr>
        <p:spPr>
          <a:xfrm>
            <a:off x="1600199" y="2413000"/>
            <a:ext cx="8585201" cy="355600"/>
          </a:xfrm>
          <a:prstGeom prst="rect">
            <a:avLst/>
          </a:prstGeom>
          <a:solidFill>
            <a:srgbClr val="FFFF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8904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5190D-635A-3EE0-E360-5ABCEB1DF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3BBCC-1800-4D5D-71D6-AEC81558A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12" y="130110"/>
            <a:ext cx="10772775" cy="768053"/>
          </a:xfrm>
        </p:spPr>
        <p:txBody>
          <a:bodyPr>
            <a:normAutofit/>
          </a:bodyPr>
          <a:lstStyle/>
          <a:p>
            <a:r>
              <a:rPr lang="en-US" sz="3600" dirty="0"/>
              <a:t>Attractive Relative Valuation Within LNG &amp; Midstream Peers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E25A709-17CA-11E9-AFC6-794134FE91C5}"/>
              </a:ext>
            </a:extLst>
          </p:cNvPr>
          <p:cNvSpPr txBox="1">
            <a:spLocks/>
          </p:cNvSpPr>
          <p:nvPr/>
        </p:nvSpPr>
        <p:spPr>
          <a:xfrm>
            <a:off x="709612" y="689941"/>
            <a:ext cx="10772775" cy="48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/>
              <a:t>Cheniere’s  ~12x P/E compares favorably to peers trading 20-35x earnings.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A4B6E6-21E5-7571-7E9A-6AF5712AF00F}"/>
              </a:ext>
            </a:extLst>
          </p:cNvPr>
          <p:cNvSpPr txBox="1"/>
          <p:nvPr/>
        </p:nvSpPr>
        <p:spPr>
          <a:xfrm>
            <a:off x="709612" y="6289889"/>
            <a:ext cx="106695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R" sz="1050" b="1" dirty="0" err="1"/>
              <a:t>Source</a:t>
            </a:r>
            <a:r>
              <a:rPr lang="es-CR" sz="1050" dirty="0"/>
              <a:t>: </a:t>
            </a:r>
            <a:r>
              <a:rPr lang="en-US" sz="1050" dirty="0" err="1"/>
              <a:t>FinViz</a:t>
            </a:r>
            <a:r>
              <a:rPr lang="en-US" sz="1050" dirty="0"/>
              <a:t>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1BDABB4B-6A49-ADD8-EA0F-6F39EA7269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26079" y="1377595"/>
            <a:ext cx="9340322" cy="4636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3554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9CC9B-B87B-420C-88B5-472CF2003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9DEDB-3EAB-E4BF-FE1B-3F9D7627E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12" y="130110"/>
            <a:ext cx="10772775" cy="768053"/>
          </a:xfrm>
        </p:spPr>
        <p:txBody>
          <a:bodyPr>
            <a:normAutofit/>
          </a:bodyPr>
          <a:lstStyle/>
          <a:p>
            <a:r>
              <a:rPr lang="es-CR" sz="3600" dirty="0"/>
              <a:t>D</a:t>
            </a:r>
            <a:r>
              <a:rPr lang="en-US" sz="3600" dirty="0"/>
              <a:t>CF Valuation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346A5D0-E3B3-5881-6429-7BD1DA1BEC08}"/>
              </a:ext>
            </a:extLst>
          </p:cNvPr>
          <p:cNvSpPr txBox="1">
            <a:spLocks/>
          </p:cNvSpPr>
          <p:nvPr/>
        </p:nvSpPr>
        <p:spPr>
          <a:xfrm>
            <a:off x="709612" y="689941"/>
            <a:ext cx="10772775" cy="48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/>
              <a:t>Cheniere’s  ~12x P/E compares favorably to peers trading 20-35x earnings.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497020-C793-60D4-1051-A611624CC743}"/>
              </a:ext>
            </a:extLst>
          </p:cNvPr>
          <p:cNvSpPr txBox="1"/>
          <p:nvPr/>
        </p:nvSpPr>
        <p:spPr>
          <a:xfrm>
            <a:off x="709612" y="6289889"/>
            <a:ext cx="106695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R" sz="1050" b="1" dirty="0" err="1"/>
              <a:t>Source</a:t>
            </a:r>
            <a:r>
              <a:rPr lang="es-CR" sz="1050" dirty="0"/>
              <a:t>: </a:t>
            </a:r>
            <a:r>
              <a:rPr lang="en-US" sz="1050" dirty="0" err="1"/>
              <a:t>FinViz</a:t>
            </a:r>
            <a:r>
              <a:rPr lang="en-US" sz="10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575765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79C15-E268-43B1-8BA2-6F7C13429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03043-2DCA-1BFF-EDFF-1563777629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12" y="130110"/>
            <a:ext cx="10772775" cy="768053"/>
          </a:xfrm>
        </p:spPr>
        <p:txBody>
          <a:bodyPr>
            <a:normAutofit/>
          </a:bodyPr>
          <a:lstStyle/>
          <a:p>
            <a:r>
              <a:rPr lang="es-CR" sz="3600" dirty="0"/>
              <a:t>Portfolio </a:t>
            </a:r>
            <a:r>
              <a:rPr lang="es-CR" sz="3600" dirty="0" err="1"/>
              <a:t>fit</a:t>
            </a:r>
            <a:endParaRPr lang="en-US" sz="36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4CD770F-AFAD-C450-8452-B75329FC22C0}"/>
              </a:ext>
            </a:extLst>
          </p:cNvPr>
          <p:cNvSpPr txBox="1">
            <a:spLocks/>
          </p:cNvSpPr>
          <p:nvPr/>
        </p:nvSpPr>
        <p:spPr>
          <a:xfrm>
            <a:off x="709612" y="689941"/>
            <a:ext cx="10772775" cy="48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800" dirty="0"/>
              <a:t>Cheniere’s  ~12x P/E compares favorably to peers trading 20-35x earnings.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A75E8B-A254-822F-7E25-48D087DACB7D}"/>
              </a:ext>
            </a:extLst>
          </p:cNvPr>
          <p:cNvSpPr txBox="1"/>
          <p:nvPr/>
        </p:nvSpPr>
        <p:spPr>
          <a:xfrm>
            <a:off x="709612" y="6289889"/>
            <a:ext cx="106695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R" sz="1050" b="1" dirty="0" err="1"/>
              <a:t>Source</a:t>
            </a:r>
            <a:r>
              <a:rPr lang="es-CR" sz="1050" dirty="0"/>
              <a:t>: </a:t>
            </a:r>
            <a:r>
              <a:rPr lang="en-US" sz="1050" dirty="0" err="1"/>
              <a:t>FinViz</a:t>
            </a:r>
            <a:r>
              <a:rPr lang="en-US" sz="10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348960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71CF2-7B83-2891-1978-2CE9F7DBD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7C272E-1DC1-E756-9DB8-FEB7C4455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612" y="130110"/>
            <a:ext cx="10772775" cy="768053"/>
          </a:xfrm>
        </p:spPr>
        <p:txBody>
          <a:bodyPr>
            <a:normAutofit/>
          </a:bodyPr>
          <a:lstStyle/>
          <a:p>
            <a:r>
              <a:rPr lang="es-CR" sz="3600" dirty="0"/>
              <a:t>Pros and </a:t>
            </a:r>
            <a:r>
              <a:rPr lang="es-CR" sz="3600" dirty="0" err="1"/>
              <a:t>Cons</a:t>
            </a:r>
            <a:endParaRPr lang="en-US" sz="36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F6E587E-A5F9-E7BF-8402-F5BC35AD3F31}"/>
              </a:ext>
            </a:extLst>
          </p:cNvPr>
          <p:cNvSpPr txBox="1">
            <a:spLocks/>
          </p:cNvSpPr>
          <p:nvPr/>
        </p:nvSpPr>
        <p:spPr>
          <a:xfrm>
            <a:off x="709612" y="689941"/>
            <a:ext cx="10772775" cy="4839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5400" kern="1200" spc="-120" baseline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700" dirty="0"/>
              <a:t>Cheniere: Contracted Infrastructure Model with Commodity &amp; Execution Risk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F607B8-6BD5-0846-7921-A3FEFD0ACECE}"/>
              </a:ext>
            </a:extLst>
          </p:cNvPr>
          <p:cNvSpPr txBox="1"/>
          <p:nvPr/>
        </p:nvSpPr>
        <p:spPr>
          <a:xfrm>
            <a:off x="709612" y="6289889"/>
            <a:ext cx="1066958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R" sz="1050" b="1" dirty="0" err="1"/>
              <a:t>Source</a:t>
            </a:r>
            <a:r>
              <a:rPr lang="es-CR" sz="1050" dirty="0"/>
              <a:t>: </a:t>
            </a:r>
            <a:r>
              <a:rPr lang="en-US" sz="1050" dirty="0" err="1"/>
              <a:t>FinViz</a:t>
            </a:r>
            <a:r>
              <a:rPr lang="en-US" sz="1050" dirty="0"/>
              <a:t>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56105F-D008-6160-DCE7-6BB36FE72050}"/>
              </a:ext>
            </a:extLst>
          </p:cNvPr>
          <p:cNvSpPr txBox="1"/>
          <p:nvPr/>
        </p:nvSpPr>
        <p:spPr>
          <a:xfrm>
            <a:off x="1001609" y="1173939"/>
            <a:ext cx="4306992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Pros</a:t>
            </a:r>
            <a:br>
              <a:rPr lang="en-US" sz="1400" b="1" dirty="0"/>
            </a:br>
            <a:endParaRPr lang="en-US" sz="1400" b="1" dirty="0"/>
          </a:p>
          <a:p>
            <a:r>
              <a:rPr lang="en-US" sz="1400" b="1" dirty="0"/>
              <a:t>Long-Term Contracted Revenue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~95% of LNG production capacity contracted into mid-2030s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High revenue visibility</a:t>
            </a:r>
          </a:p>
          <a:p>
            <a:br>
              <a:rPr lang="en-US" sz="1400" b="1" dirty="0"/>
            </a:br>
            <a:r>
              <a:rPr lang="en-US" sz="1400" b="1" dirty="0"/>
              <a:t>Scale &amp; Market Leadership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Largest U.S. LNG exporter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Second-largest globally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Competitive moat</a:t>
            </a:r>
          </a:p>
          <a:p>
            <a:br>
              <a:rPr lang="en-US" sz="1400" b="1" dirty="0"/>
            </a:br>
            <a:r>
              <a:rPr lang="en-US" sz="1400" b="1" dirty="0"/>
              <a:t>Infrastructure Barriers to Entry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Liquefaction terminals require: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Multi-year construction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Billions in capital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/>
              <a:t>Regulatory approval</a:t>
            </a:r>
            <a:br>
              <a:rPr lang="en-US" sz="1400" dirty="0"/>
            </a:br>
            <a:endParaRPr lang="en-US" sz="1400" dirty="0"/>
          </a:p>
          <a:p>
            <a:r>
              <a:rPr lang="en-US" sz="1400" b="1" dirty="0"/>
              <a:t>Strong Operating Cash Flow Supports: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Debt reduction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BuybacksDividends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3C1AFA-01A2-D86C-BBE2-63D75AC1C4F2}"/>
              </a:ext>
            </a:extLst>
          </p:cNvPr>
          <p:cNvSpPr txBox="1"/>
          <p:nvPr/>
        </p:nvSpPr>
        <p:spPr>
          <a:xfrm>
            <a:off x="6555742" y="1173939"/>
            <a:ext cx="4306992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Cons</a:t>
            </a:r>
            <a:br>
              <a:rPr lang="en-US" sz="1400" b="1" dirty="0"/>
            </a:br>
            <a:endParaRPr lang="en-US" sz="14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Profitability </a:t>
            </a:r>
            <a:r>
              <a:rPr lang="en-US" sz="1400" b="1" dirty="0"/>
              <a:t>exposed</a:t>
            </a:r>
            <a:r>
              <a:rPr lang="en-US" sz="1400" dirty="0"/>
              <a:t> to compression in the spread between </a:t>
            </a:r>
            <a:r>
              <a:rPr lang="en-US" sz="1400" b="1" dirty="0"/>
              <a:t>U.S. natural gas prices and global LNG pricing</a:t>
            </a:r>
            <a:br>
              <a:rPr lang="en-US" sz="1400" dirty="0"/>
            </a:b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High capital intensity and leverage increase </a:t>
            </a:r>
            <a:r>
              <a:rPr lang="en-US" sz="1400" b="1" dirty="0"/>
              <a:t>sensitivity to interest rates</a:t>
            </a:r>
            <a:r>
              <a:rPr lang="en-US" sz="1400" dirty="0"/>
              <a:t> and refinancing conditions</a:t>
            </a:r>
            <a:br>
              <a:rPr lang="en-US" sz="1400" dirty="0"/>
            </a:b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Execution risk related to Corpus Christi Stage 3 expansion and future capacity additions</a:t>
            </a:r>
            <a:br>
              <a:rPr lang="en-US" sz="1400" dirty="0"/>
            </a:b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Regulatory and export policy risk given U.S. LNG approvals are subject to federal oversight</a:t>
            </a:r>
            <a:br>
              <a:rPr lang="en-US" sz="1400" dirty="0"/>
            </a:b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Global economic slowdown could reduce LNG demand and pressure export volumes</a:t>
            </a:r>
          </a:p>
        </p:txBody>
      </p:sp>
    </p:spTree>
    <p:extLst>
      <p:ext uri="{BB962C8B-B14F-4D97-AF65-F5344CB8AC3E}">
        <p14:creationId xmlns:p14="http://schemas.microsoft.com/office/powerpoint/2010/main" val="2934304950"/>
      </p:ext>
    </p:extLst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0941A018-FB9B-4401-A32C-7E04526866E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Metropolitan</Template>
  <TotalTime>516</TotalTime>
  <Words>877</Words>
  <Application>Microsoft Office PowerPoint</Application>
  <PresentationFormat>Widescreen</PresentationFormat>
  <Paragraphs>119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 Light</vt:lpstr>
      <vt:lpstr>Metropolitan</vt:lpstr>
      <vt:lpstr>Stock Pitch</vt:lpstr>
      <vt:lpstr>Phoenix Portfolio Risk Is Highly Concentrated in High-Beta Tech Exposure</vt:lpstr>
      <vt:lpstr>Addressing Tech Concentration Through Thematic Diversification</vt:lpstr>
      <vt:lpstr>Initiate 5-8% Position in Cheniere Energy (LNG)</vt:lpstr>
      <vt:lpstr>Cheniere Energy Is the Leading U.S. LNG Export Infrastructure Operator</vt:lpstr>
      <vt:lpstr>Cheniere Energy Is the Leading U.S. LNG Export Infrastructure Operator</vt:lpstr>
      <vt:lpstr>Global LNG Supply Wave + European Rewiring = Structural Tailwind for U.S. Exporters</vt:lpstr>
      <vt:lpstr>Global LNG Supply Wave + European Rewiring = Structural Tailwind for U.S. Exporters</vt:lpstr>
      <vt:lpstr>Attractive Relative Valuation Within LNG &amp; Midstream Peers</vt:lpstr>
      <vt:lpstr>Attractive Relative Valuation Within LNG &amp; Midstream Peers</vt:lpstr>
      <vt:lpstr>Attractive Relative Valuation Within LNG &amp; Midstream Peers</vt:lpstr>
      <vt:lpstr>DCF Valuation</vt:lpstr>
      <vt:lpstr>Portfolio fit</vt:lpstr>
      <vt:lpstr>Pros and Cons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Alejandro Leiva Sanabria</dc:creator>
  <cp:lastModifiedBy>Alejandro Leiva Sanabria</cp:lastModifiedBy>
  <cp:revision>32</cp:revision>
  <dcterms:created xsi:type="dcterms:W3CDTF">2026-02-11T18:28:07Z</dcterms:created>
  <dcterms:modified xsi:type="dcterms:W3CDTF">2026-02-12T03:04:30Z</dcterms:modified>
</cp:coreProperties>
</file>